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59" r:id="rId5"/>
    <p:sldId id="261" r:id="rId6"/>
    <p:sldId id="262" r:id="rId7"/>
    <p:sldId id="263" r:id="rId8"/>
    <p:sldId id="264" r:id="rId9"/>
    <p:sldId id="265" r:id="rId10"/>
    <p:sldId id="257"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BEBE"/>
    <a:srgbClr val="000000"/>
    <a:srgbClr val="FBF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7086C-263E-997F-9D63-DE269B350E3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5B8123F-92B3-D7B1-0550-58E1F98888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638EDFA-CADF-C034-C0DA-C48BA87FA318}"/>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26CAB841-5B0B-E207-4726-2ADEF0C504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D8C8B6-D47A-DEF1-F659-B43A3769A0AB}"/>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14101013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DEC604-D4B2-6F36-3E03-0064AF0E5B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5C433F4-2FA4-DF58-4303-C152FBDF4A4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031015-C279-9C7E-040C-72CDF975267F}"/>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9CE76252-1D40-4770-2A14-67542B4E90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43A34C-4953-274E-E94E-1BD21C83965F}"/>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18549363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1F3E8A-9625-C8D5-1070-13B1994ED9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A288B32-3DB0-C9A6-3B19-EE2032863F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E9BA020-C2A8-5F69-CA6B-467F92C8A5B4}"/>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4313895D-0D9A-0994-BEAE-38E485F6A8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64B613-3827-FCA3-4092-E0B9DDC69F6D}"/>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446718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B491D5-016C-C00C-A000-838B542094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B4D2AA2-6B7E-8154-E2A9-283D06F4BC9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81E86B-6E12-9803-C1D1-A8A76D45BB8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8C1F0A2-8447-B60F-A42A-E32F42C254A7}"/>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4D9583D5-05B7-054D-B7DF-939CE1BFAB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5E5EC25-C5AD-FF8D-8220-3F421E7EF3F3}"/>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304249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9858FB-B71E-9D3C-0A8C-7F79610F55B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1F6502-A3BB-AA9F-7EE7-8944FC41F0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8E67D7E-04E0-77D9-0020-20D35AB2513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F5B2032-DC49-B82E-F5E5-D71BB972D1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23F2607-B2DC-436E-BA66-3E40F37F002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F928C72-ED60-1D0B-B2D2-D6919E92610E}"/>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8" name="页脚占位符 7">
            <a:extLst>
              <a:ext uri="{FF2B5EF4-FFF2-40B4-BE49-F238E27FC236}">
                <a16:creationId xmlns:a16="http://schemas.microsoft.com/office/drawing/2014/main" id="{40D594C5-0301-1985-9408-430C0AB3247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BC83E11-478B-DAF8-2ED3-FAD745E9AAFE}"/>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42144109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A2EF8-81AD-0E1E-8158-30996CA3F5D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F21094C-0311-B8FD-5376-2D16AFE436D9}"/>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4" name="页脚占位符 3">
            <a:extLst>
              <a:ext uri="{FF2B5EF4-FFF2-40B4-BE49-F238E27FC236}">
                <a16:creationId xmlns:a16="http://schemas.microsoft.com/office/drawing/2014/main" id="{3298EA4C-365B-3357-4BCC-C22404CBDFE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58D6F68-FBCE-C44C-EC76-D0CC9E1F9D7E}"/>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3993079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8F37CEB-A753-79BD-E2F5-56728F5E4360}"/>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3" name="页脚占位符 2">
            <a:extLst>
              <a:ext uri="{FF2B5EF4-FFF2-40B4-BE49-F238E27FC236}">
                <a16:creationId xmlns:a16="http://schemas.microsoft.com/office/drawing/2014/main" id="{70516B5F-0774-0696-8B1E-D823F17CCEA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FC1B2F-3FD2-241D-96E4-756C9DD45AF1}"/>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186514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3D327C-AD84-D152-1C61-E76423FF465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962C6E7-0A4D-8CF3-689C-0464A6B56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E917512-CB87-9F95-CB67-213652BB2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A8B9C6B-88D0-4592-42BC-368B1F8D877B}"/>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9DAECEE3-5D2B-4C0C-5B37-7445B48E79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A2259F-77B5-3E83-50AB-ECD7198E6704}"/>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306678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BC3A8-B874-A05F-8DCD-6C141A0867D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571482-0951-AE0F-678E-62D5D8D450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9153E12-2803-EC54-D539-714587E59E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7CE8B1-9978-0CB6-A961-7A1E7B5FE88E}"/>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B142D366-8F8D-146C-83C7-08D5EDC81E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70627E-B30B-8F2A-8064-D1387521C164}"/>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523967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5441B-9F14-0F64-77BF-55637722B18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118CD35-5841-75C0-FF4B-68743A9889A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0F12BC-F114-1A92-37A9-53030AE66B51}"/>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AD876BAE-4FC6-AE3C-6759-B3C87B4A36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FE1AB1-9C22-383D-9042-ABAAAC10B080}"/>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34312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84DE4B8-94B0-2E64-96BB-27B2933C41E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B940819-0FA5-5257-8D6F-E7E1E16400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E7A3AA-10CD-0F71-C2B1-095E898F5A09}"/>
              </a:ext>
            </a:extLst>
          </p:cNvPr>
          <p:cNvSpPr>
            <a:spLocks noGrp="1"/>
          </p:cNvSpPr>
          <p:nvPr>
            <p:ph type="dt" sz="half" idx="10"/>
          </p:nvPr>
        </p:nvSpPr>
        <p:spPr/>
        <p:txBody>
          <a:body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1884612D-F0A1-6AC4-D0F8-EB6A21B683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4E884FE-5190-EC34-3047-35583A0C19E8}"/>
              </a:ext>
            </a:extLst>
          </p:cNvPr>
          <p:cNvSpPr>
            <a:spLocks noGrp="1"/>
          </p:cNvSpPr>
          <p:nvPr>
            <p:ph type="sldNum" sz="quarter" idx="12"/>
          </p:nvPr>
        </p:nvSpPr>
        <p:spPr/>
        <p:txBody>
          <a:body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2143967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125B96A-A6A7-FD61-538D-8E0B03F2DA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6F72083-FA54-C9D1-2E76-6DF148468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9E7DF5-1E8B-48D6-F82B-82E27FAA17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ABB7B0-FD43-40A2-BE1C-EC71379C390C}"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B3FB11CC-53F0-E948-7984-F67851C3E1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64C305E-85DB-1446-2A54-B236C0AF30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D13413-46F8-46BF-A49E-BB5F616A2939}" type="slidenum">
              <a:rPr lang="zh-CN" altLang="en-US" smtClean="0"/>
              <a:t>‹#›</a:t>
            </a:fld>
            <a:endParaRPr lang="zh-CN" altLang="en-US"/>
          </a:p>
        </p:txBody>
      </p:sp>
    </p:spTree>
    <p:extLst>
      <p:ext uri="{BB962C8B-B14F-4D97-AF65-F5344CB8AC3E}">
        <p14:creationId xmlns:p14="http://schemas.microsoft.com/office/powerpoint/2010/main" val="3122862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245C68-18C1-7ED9-A9CC-B484AC62EE1D}"/>
              </a:ext>
            </a:extLst>
          </p:cNvPr>
          <p:cNvSpPr txBox="1"/>
          <p:nvPr/>
        </p:nvSpPr>
        <p:spPr>
          <a:xfrm>
            <a:off x="1733422" y="1864086"/>
            <a:ext cx="8725155" cy="1200329"/>
          </a:xfrm>
          <a:prstGeom prst="rect">
            <a:avLst/>
          </a:prstGeom>
          <a:noFill/>
        </p:spPr>
        <p:txBody>
          <a:bodyPr wrap="square" rtlCol="0">
            <a:spAutoFit/>
          </a:bodyPr>
          <a:lstStyle/>
          <a:p>
            <a:r>
              <a:rPr lang="zh-CN" altLang="en-US" sz="7200" dirty="0">
                <a:solidFill>
                  <a:schemeClr val="bg2">
                    <a:lumMod val="10000"/>
                  </a:schemeClr>
                </a:solidFill>
                <a:highlight>
                  <a:srgbClr val="00FFFF"/>
                </a:highlight>
                <a:latin typeface="华文彩云" panose="02010800040101010101" pitchFamily="2" charset="-122"/>
                <a:ea typeface="华文彩云" panose="02010800040101010101" pitchFamily="2" charset="-122"/>
              </a:rPr>
              <a:t>简易文件数据库系统</a:t>
            </a:r>
          </a:p>
        </p:txBody>
      </p:sp>
      <p:sp>
        <p:nvSpPr>
          <p:cNvPr id="4" name="文本框 3">
            <a:extLst>
              <a:ext uri="{FF2B5EF4-FFF2-40B4-BE49-F238E27FC236}">
                <a16:creationId xmlns:a16="http://schemas.microsoft.com/office/drawing/2014/main" id="{80E389BB-92EB-94CD-6497-C7F17FA6E9BA}"/>
              </a:ext>
            </a:extLst>
          </p:cNvPr>
          <p:cNvSpPr txBox="1"/>
          <p:nvPr/>
        </p:nvSpPr>
        <p:spPr>
          <a:xfrm>
            <a:off x="1733422" y="4400168"/>
            <a:ext cx="4921804" cy="1200329"/>
          </a:xfrm>
          <a:prstGeom prst="rect">
            <a:avLst/>
          </a:prstGeom>
          <a:noFill/>
        </p:spPr>
        <p:txBody>
          <a:bodyPr wrap="square" rtlCol="0">
            <a:spAutoFit/>
          </a:bodyPr>
          <a:lstStyle/>
          <a:p>
            <a:r>
              <a:rPr lang="zh-CN" altLang="en-US" sz="2400" dirty="0">
                <a:highlight>
                  <a:srgbClr val="FFFF00"/>
                </a:highlight>
                <a:latin typeface="华文行楷" panose="02010800040101010101" pitchFamily="2" charset="-122"/>
                <a:ea typeface="华文行楷" panose="02010800040101010101" pitchFamily="2" charset="-122"/>
              </a:rPr>
              <a:t>小组：茹奕笑（程序编写）</a:t>
            </a:r>
            <a:endParaRPr lang="en-US" altLang="zh-CN" sz="2400" dirty="0">
              <a:highlight>
                <a:srgbClr val="FFFF00"/>
              </a:highlight>
              <a:latin typeface="华文行楷" panose="02010800040101010101" pitchFamily="2" charset="-122"/>
              <a:ea typeface="华文行楷" panose="02010800040101010101" pitchFamily="2" charset="-122"/>
            </a:endParaRPr>
          </a:p>
          <a:p>
            <a:r>
              <a:rPr lang="en-US" altLang="zh-CN" sz="2400" dirty="0">
                <a:highlight>
                  <a:srgbClr val="FFFF00"/>
                </a:highlight>
                <a:latin typeface="华文行楷" panose="02010800040101010101" pitchFamily="2" charset="-122"/>
                <a:ea typeface="华文行楷" panose="02010800040101010101" pitchFamily="2" charset="-122"/>
              </a:rPr>
              <a:t>	</a:t>
            </a:r>
            <a:r>
              <a:rPr lang="zh-CN" altLang="en-US" sz="2400" dirty="0">
                <a:highlight>
                  <a:srgbClr val="FFFF00"/>
                </a:highlight>
                <a:latin typeface="华文行楷" panose="02010800040101010101" pitchFamily="2" charset="-122"/>
                <a:ea typeface="华文行楷" panose="02010800040101010101" pitchFamily="2" charset="-122"/>
              </a:rPr>
              <a:t>唐文杰（程序完善）</a:t>
            </a:r>
            <a:endParaRPr lang="en-US" altLang="zh-CN" sz="2400" dirty="0">
              <a:highlight>
                <a:srgbClr val="FFFF00"/>
              </a:highlight>
              <a:latin typeface="华文行楷" panose="02010800040101010101" pitchFamily="2" charset="-122"/>
              <a:ea typeface="华文行楷" panose="02010800040101010101" pitchFamily="2" charset="-122"/>
            </a:endParaRPr>
          </a:p>
          <a:p>
            <a:r>
              <a:rPr lang="en-US" altLang="zh-CN" sz="2400" dirty="0">
                <a:highlight>
                  <a:srgbClr val="FFFF00"/>
                </a:highlight>
                <a:latin typeface="华文行楷" panose="02010800040101010101" pitchFamily="2" charset="-122"/>
                <a:ea typeface="华文行楷" panose="02010800040101010101" pitchFamily="2" charset="-122"/>
              </a:rPr>
              <a:t>	</a:t>
            </a:r>
            <a:r>
              <a:rPr lang="zh-CN" altLang="en-US" sz="2400" dirty="0">
                <a:highlight>
                  <a:srgbClr val="FFFF00"/>
                </a:highlight>
                <a:latin typeface="华文行楷" panose="02010800040101010101" pitchFamily="2" charset="-122"/>
                <a:ea typeface="华文行楷" panose="02010800040101010101" pitchFamily="2" charset="-122"/>
              </a:rPr>
              <a:t>宋子涵（</a:t>
            </a:r>
            <a:r>
              <a:rPr lang="en-US" altLang="zh-CN" sz="2400" dirty="0">
                <a:highlight>
                  <a:srgbClr val="FFFF00"/>
                </a:highlight>
                <a:latin typeface="华文行楷" panose="02010800040101010101" pitchFamily="2" charset="-122"/>
                <a:ea typeface="华文行楷" panose="02010800040101010101" pitchFamily="2" charset="-122"/>
              </a:rPr>
              <a:t>PPT</a:t>
            </a:r>
            <a:r>
              <a:rPr lang="zh-CN" altLang="en-US" sz="2400" dirty="0">
                <a:highlight>
                  <a:srgbClr val="FFFF00"/>
                </a:highlight>
                <a:latin typeface="华文行楷" panose="02010800040101010101" pitchFamily="2" charset="-122"/>
                <a:ea typeface="华文行楷" panose="02010800040101010101" pitchFamily="2" charset="-122"/>
              </a:rPr>
              <a:t>制作）</a:t>
            </a:r>
          </a:p>
        </p:txBody>
      </p:sp>
      <p:sp>
        <p:nvSpPr>
          <p:cNvPr id="5" name="文本框 4">
            <a:extLst>
              <a:ext uri="{FF2B5EF4-FFF2-40B4-BE49-F238E27FC236}">
                <a16:creationId xmlns:a16="http://schemas.microsoft.com/office/drawing/2014/main" id="{4578F6A2-6D00-F78F-F587-24AF9EE75AF6}"/>
              </a:ext>
            </a:extLst>
          </p:cNvPr>
          <p:cNvSpPr txBox="1"/>
          <p:nvPr/>
        </p:nvSpPr>
        <p:spPr>
          <a:xfrm>
            <a:off x="8389159" y="5138832"/>
            <a:ext cx="3019361" cy="461665"/>
          </a:xfrm>
          <a:prstGeom prst="rect">
            <a:avLst/>
          </a:prstGeom>
          <a:noFill/>
        </p:spPr>
        <p:txBody>
          <a:bodyPr wrap="square" rtlCol="0">
            <a:spAutoFit/>
          </a:bodyPr>
          <a:lstStyle/>
          <a:p>
            <a:r>
              <a:rPr lang="en-US" altLang="zh-CN" sz="2400" dirty="0">
                <a:latin typeface="HarmonyOS Sans SC" panose="00000800000000000000" pitchFamily="2" charset="-122"/>
                <a:ea typeface="HarmonyOS Sans SC" panose="00000800000000000000" pitchFamily="2" charset="-122"/>
              </a:rPr>
              <a:t>2025.12.30</a:t>
            </a:r>
            <a:endParaRPr lang="zh-CN" altLang="en-US" sz="2400" dirty="0">
              <a:latin typeface="HarmonyOS Sans SC" panose="00000800000000000000" pitchFamily="2" charset="-122"/>
              <a:ea typeface="HarmonyOS Sans SC" panose="00000800000000000000" pitchFamily="2" charset="-122"/>
            </a:endParaRPr>
          </a:p>
        </p:txBody>
      </p:sp>
    </p:spTree>
    <p:extLst>
      <p:ext uri="{BB962C8B-B14F-4D97-AF65-F5344CB8AC3E}">
        <p14:creationId xmlns:p14="http://schemas.microsoft.com/office/powerpoint/2010/main" val="6417957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48910CB-E226-E2A4-F261-EF4561A8951D}"/>
              </a:ext>
            </a:extLst>
          </p:cNvPr>
          <p:cNvSpPr/>
          <p:nvPr/>
        </p:nvSpPr>
        <p:spPr>
          <a:xfrm>
            <a:off x="3540999" y="644376"/>
            <a:ext cx="5228649" cy="1098507"/>
          </a:xfrm>
          <a:prstGeom prst="rect">
            <a:avLst/>
          </a:prstGeom>
          <a:solidFill>
            <a:srgbClr val="26BEBE">
              <a:alpha val="49020"/>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B83F8B4-16B7-2A13-51CE-CE16F9068370}"/>
              </a:ext>
            </a:extLst>
          </p:cNvPr>
          <p:cNvSpPr txBox="1"/>
          <p:nvPr/>
        </p:nvSpPr>
        <p:spPr>
          <a:xfrm>
            <a:off x="3450990" y="411173"/>
            <a:ext cx="6431485" cy="1446550"/>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数据储存主要形式</a:t>
            </a:r>
            <a:endParaRPr lang="en-US" altLang="zh-CN" sz="4400" dirty="0">
              <a:latin typeface="隶书" panose="02010509060101010101" pitchFamily="49" charset="-122"/>
              <a:ea typeface="隶书" panose="02010509060101010101" pitchFamily="49" charset="-122"/>
            </a:endParaRPr>
          </a:p>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结构体</a:t>
            </a:r>
          </a:p>
        </p:txBody>
      </p:sp>
      <p:sp>
        <p:nvSpPr>
          <p:cNvPr id="6" name="矩形 5">
            <a:extLst>
              <a:ext uri="{FF2B5EF4-FFF2-40B4-BE49-F238E27FC236}">
                <a16:creationId xmlns:a16="http://schemas.microsoft.com/office/drawing/2014/main" id="{DADE9C6A-7779-D8F0-724E-BAA24AFD7FF5}"/>
              </a:ext>
            </a:extLst>
          </p:cNvPr>
          <p:cNvSpPr/>
          <p:nvPr/>
        </p:nvSpPr>
        <p:spPr>
          <a:xfrm>
            <a:off x="6363978" y="2504841"/>
            <a:ext cx="3596231" cy="3105277"/>
          </a:xfrm>
          <a:prstGeom prst="rect">
            <a:avLst/>
          </a:prstGeom>
          <a:solidFill>
            <a:srgbClr val="000000">
              <a:alpha val="50196"/>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50A523FD-D63C-2531-9483-B212710F952A}"/>
              </a:ext>
            </a:extLst>
          </p:cNvPr>
          <p:cNvSpPr txBox="1"/>
          <p:nvPr/>
        </p:nvSpPr>
        <p:spPr>
          <a:xfrm>
            <a:off x="6419210" y="2718651"/>
            <a:ext cx="3540999" cy="2677656"/>
          </a:xfrm>
          <a:prstGeom prst="rect">
            <a:avLst/>
          </a:prstGeom>
          <a:noFill/>
        </p:spPr>
        <p:txBody>
          <a:bodyPr wrap="square" rtlCol="0">
            <a:spAutoFit/>
          </a:bodyPr>
          <a:lstStyle/>
          <a:p>
            <a:r>
              <a:rPr lang="en-US" altLang="zh-CN" sz="2400" dirty="0"/>
              <a:t>1.</a:t>
            </a:r>
            <a:r>
              <a:rPr lang="zh-CN" altLang="en-US" sz="2400" dirty="0"/>
              <a:t>内存效率：所有数据在内存中以紧凑形式存储</a:t>
            </a:r>
            <a:endParaRPr lang="en-US" altLang="zh-CN" sz="2400" dirty="0"/>
          </a:p>
          <a:p>
            <a:r>
              <a:rPr lang="en-US" altLang="zh-CN" sz="2400" dirty="0"/>
              <a:t>2.</a:t>
            </a:r>
            <a:r>
              <a:rPr lang="zh-CN" altLang="en-US" sz="2400" dirty="0"/>
              <a:t>实现简单：避免了复杂的动态内存管理</a:t>
            </a:r>
            <a:endParaRPr lang="en-US" altLang="zh-CN" sz="2400" dirty="0"/>
          </a:p>
          <a:p>
            <a:r>
              <a:rPr lang="en-US" altLang="zh-CN" sz="2400" dirty="0"/>
              <a:t>3. </a:t>
            </a:r>
            <a:r>
              <a:rPr lang="zh-CN" altLang="en-US" sz="2400" dirty="0"/>
              <a:t>文件操作简单：整个数据库可以作为一个整体保存和加载</a:t>
            </a:r>
          </a:p>
        </p:txBody>
      </p:sp>
      <p:pic>
        <p:nvPicPr>
          <p:cNvPr id="8" name="图片 7" descr="文本&#10;&#10;AI 生成的内容可能不正确。">
            <a:extLst>
              <a:ext uri="{FF2B5EF4-FFF2-40B4-BE49-F238E27FC236}">
                <a16:creationId xmlns:a16="http://schemas.microsoft.com/office/drawing/2014/main" id="{CE7072AA-7C7D-E6F1-648B-D0439653F7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9503" y="2509625"/>
            <a:ext cx="3308520" cy="3937202"/>
          </a:xfrm>
          <a:prstGeom prst="rect">
            <a:avLst/>
          </a:prstGeom>
        </p:spPr>
      </p:pic>
    </p:spTree>
    <p:extLst>
      <p:ext uri="{BB962C8B-B14F-4D97-AF65-F5344CB8AC3E}">
        <p14:creationId xmlns:p14="http://schemas.microsoft.com/office/powerpoint/2010/main" val="21239043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ECDA253-69EE-590B-AF10-A59A0DF3560B}"/>
              </a:ext>
            </a:extLst>
          </p:cNvPr>
          <p:cNvSpPr/>
          <p:nvPr/>
        </p:nvSpPr>
        <p:spPr>
          <a:xfrm>
            <a:off x="4743834" y="662787"/>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3AE7BC3-9EAA-C6AB-880B-CB2DBB7C2B46}"/>
              </a:ext>
            </a:extLst>
          </p:cNvPr>
          <p:cNvSpPr txBox="1"/>
          <p:nvPr/>
        </p:nvSpPr>
        <p:spPr>
          <a:xfrm>
            <a:off x="4709057" y="583006"/>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模块划分</a:t>
            </a:r>
            <a:endParaRPr lang="en-US" altLang="zh-CN" sz="4400"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438081E4-F30D-2AEB-456B-AA94AE563B36}"/>
              </a:ext>
            </a:extLst>
          </p:cNvPr>
          <p:cNvSpPr/>
          <p:nvPr/>
        </p:nvSpPr>
        <p:spPr>
          <a:xfrm>
            <a:off x="2908897" y="1828800"/>
            <a:ext cx="6498990" cy="523220"/>
          </a:xfrm>
          <a:prstGeom prst="rect">
            <a:avLst/>
          </a:prstGeom>
          <a:solidFill>
            <a:srgbClr val="FBF999">
              <a:alpha val="6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962B5BC-55CE-44F2-6218-0881D1BF7D59}"/>
              </a:ext>
            </a:extLst>
          </p:cNvPr>
          <p:cNvSpPr txBox="1"/>
          <p:nvPr/>
        </p:nvSpPr>
        <p:spPr>
          <a:xfrm>
            <a:off x="3047488" y="1828800"/>
            <a:ext cx="6097022" cy="523220"/>
          </a:xfrm>
          <a:prstGeom prst="rect">
            <a:avLst/>
          </a:prstGeom>
          <a:noFill/>
        </p:spPr>
        <p:txBody>
          <a:bodyPr wrap="square">
            <a:spAutoFit/>
          </a:bodyPr>
          <a:lstStyle/>
          <a:p>
            <a:pPr algn="ctr"/>
            <a:r>
              <a:rPr lang="zh-CN" altLang="en-US" sz="2800" dirty="0">
                <a:latin typeface="方正粗黑宋简体" panose="02000000000000000000" pitchFamily="2" charset="-122"/>
                <a:ea typeface="方正粗黑宋简体" panose="02000000000000000000" pitchFamily="2" charset="-122"/>
              </a:rPr>
              <a:t>一、预处理</a:t>
            </a:r>
          </a:p>
        </p:txBody>
      </p:sp>
      <p:pic>
        <p:nvPicPr>
          <p:cNvPr id="9" name="图片 8" descr="文本&#10;&#10;AI 生成的内容可能不正确。">
            <a:extLst>
              <a:ext uri="{FF2B5EF4-FFF2-40B4-BE49-F238E27FC236}">
                <a16:creationId xmlns:a16="http://schemas.microsoft.com/office/drawing/2014/main" id="{3D5B117F-D9FA-43E7-666B-510F3FCBB5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1864" y="2673577"/>
            <a:ext cx="4034118" cy="3839062"/>
          </a:xfrm>
          <a:prstGeom prst="rect">
            <a:avLst/>
          </a:prstGeom>
        </p:spPr>
      </p:pic>
      <p:sp>
        <p:nvSpPr>
          <p:cNvPr id="10" name="文本框 9">
            <a:extLst>
              <a:ext uri="{FF2B5EF4-FFF2-40B4-BE49-F238E27FC236}">
                <a16:creationId xmlns:a16="http://schemas.microsoft.com/office/drawing/2014/main" id="{14EB604F-D7A9-01F9-B947-DC4767C5F595}"/>
              </a:ext>
            </a:extLst>
          </p:cNvPr>
          <p:cNvSpPr txBox="1"/>
          <p:nvPr/>
        </p:nvSpPr>
        <p:spPr>
          <a:xfrm>
            <a:off x="3109881" y="1794305"/>
            <a:ext cx="6097022" cy="523220"/>
          </a:xfrm>
          <a:prstGeom prst="rect">
            <a:avLst/>
          </a:prstGeom>
          <a:noFill/>
        </p:spPr>
        <p:txBody>
          <a:bodyPr wrap="square">
            <a:spAutoFit/>
          </a:bodyPr>
          <a:lstStyle/>
          <a:p>
            <a:pPr algn="ctr"/>
            <a:r>
              <a:rPr lang="zh-CN" altLang="en-US" sz="2800" dirty="0">
                <a:latin typeface="方正粗黑宋简体" panose="02000000000000000000" pitchFamily="2" charset="-122"/>
                <a:ea typeface="方正粗黑宋简体" panose="02000000000000000000" pitchFamily="2" charset="-122"/>
              </a:rPr>
              <a:t>二、解析命令</a:t>
            </a:r>
          </a:p>
        </p:txBody>
      </p:sp>
      <p:pic>
        <p:nvPicPr>
          <p:cNvPr id="12" name="图片 11" descr="文本&#10;&#10;AI 生成的内容可能不正确。">
            <a:extLst>
              <a:ext uri="{FF2B5EF4-FFF2-40B4-BE49-F238E27FC236}">
                <a16:creationId xmlns:a16="http://schemas.microsoft.com/office/drawing/2014/main" id="{A81153F6-7FF6-4868-AC98-2F54F6231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3027" y="2877670"/>
            <a:ext cx="5479097" cy="3483819"/>
          </a:xfrm>
          <a:prstGeom prst="rect">
            <a:avLst/>
          </a:prstGeom>
        </p:spPr>
      </p:pic>
      <p:sp>
        <p:nvSpPr>
          <p:cNvPr id="13" name="文本框 12">
            <a:extLst>
              <a:ext uri="{FF2B5EF4-FFF2-40B4-BE49-F238E27FC236}">
                <a16:creationId xmlns:a16="http://schemas.microsoft.com/office/drawing/2014/main" id="{9AD07470-005A-322F-5848-E6E55457C871}"/>
              </a:ext>
            </a:extLst>
          </p:cNvPr>
          <p:cNvSpPr txBox="1"/>
          <p:nvPr/>
        </p:nvSpPr>
        <p:spPr>
          <a:xfrm>
            <a:off x="3047488" y="1828800"/>
            <a:ext cx="6097022" cy="523220"/>
          </a:xfrm>
          <a:prstGeom prst="rect">
            <a:avLst/>
          </a:prstGeom>
          <a:noFill/>
        </p:spPr>
        <p:txBody>
          <a:bodyPr wrap="square">
            <a:spAutoFit/>
          </a:bodyPr>
          <a:lstStyle/>
          <a:p>
            <a:pPr algn="ctr"/>
            <a:r>
              <a:rPr lang="zh-CN" altLang="en-US" sz="2800" dirty="0">
                <a:latin typeface="方正粗黑宋简体" panose="02000000000000000000" pitchFamily="2" charset="-122"/>
                <a:ea typeface="方正粗黑宋简体" panose="02000000000000000000" pitchFamily="2" charset="-122"/>
              </a:rPr>
              <a:t>三、工具函数</a:t>
            </a:r>
          </a:p>
        </p:txBody>
      </p:sp>
      <p:pic>
        <p:nvPicPr>
          <p:cNvPr id="15" name="图片 14" descr="文本&#10;&#10;AI 生成的内容可能不正确。">
            <a:extLst>
              <a:ext uri="{FF2B5EF4-FFF2-40B4-BE49-F238E27FC236}">
                <a16:creationId xmlns:a16="http://schemas.microsoft.com/office/drawing/2014/main" id="{102FBA1B-6F13-27EB-A100-AE2C0BACC1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1042" y="2673577"/>
            <a:ext cx="4615761" cy="4065257"/>
          </a:xfrm>
          <a:prstGeom prst="rect">
            <a:avLst/>
          </a:prstGeom>
        </p:spPr>
      </p:pic>
    </p:spTree>
    <p:extLst>
      <p:ext uri="{BB962C8B-B14F-4D97-AF65-F5344CB8AC3E}">
        <p14:creationId xmlns:p14="http://schemas.microsoft.com/office/powerpoint/2010/main" val="22618697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xit" presetSubtype="0" fill="hold" grpId="1" nodeType="clickEffect">
                                  <p:stCondLst>
                                    <p:cond delay="0"/>
                                  </p:stCondLst>
                                  <p:childTnLst>
                                    <p:animEffect transition="out" filter="fade">
                                      <p:cBhvr>
                                        <p:cTn id="25" dur="1000"/>
                                        <p:tgtEl>
                                          <p:spTgt spid="6"/>
                                        </p:tgtEl>
                                      </p:cBhvr>
                                    </p:animEffect>
                                    <p:anim calcmode="lin" valueType="num">
                                      <p:cBhvr>
                                        <p:cTn id="26" dur="1000"/>
                                        <p:tgtEl>
                                          <p:spTgt spid="6"/>
                                        </p:tgtEl>
                                        <p:attrNameLst>
                                          <p:attrName>ppt_x</p:attrName>
                                        </p:attrNameLst>
                                      </p:cBhvr>
                                      <p:tavLst>
                                        <p:tav tm="0">
                                          <p:val>
                                            <p:strVal val="ppt_x"/>
                                          </p:val>
                                        </p:tav>
                                        <p:tav tm="100000">
                                          <p:val>
                                            <p:strVal val="ppt_x"/>
                                          </p:val>
                                        </p:tav>
                                      </p:tavLst>
                                    </p:anim>
                                    <p:anim calcmode="lin" valueType="num">
                                      <p:cBhvr>
                                        <p:cTn id="27" dur="1000"/>
                                        <p:tgtEl>
                                          <p:spTgt spid="6"/>
                                        </p:tgtEl>
                                        <p:attrNameLst>
                                          <p:attrName>ppt_y</p:attrName>
                                        </p:attrNameLst>
                                      </p:cBhvr>
                                      <p:tavLst>
                                        <p:tav tm="0">
                                          <p:val>
                                            <p:strVal val="ppt_y"/>
                                          </p:val>
                                        </p:tav>
                                        <p:tav tm="100000">
                                          <p:val>
                                            <p:strVal val="ppt_y+.1"/>
                                          </p:val>
                                        </p:tav>
                                      </p:tavLst>
                                    </p:anim>
                                    <p:set>
                                      <p:cBhvr>
                                        <p:cTn id="28" dur="1" fill="hold">
                                          <p:stCondLst>
                                            <p:cond delay="9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2" presetClass="exit" presetSubtype="0" fill="hold" nodeType="clickEffect">
                                  <p:stCondLst>
                                    <p:cond delay="0"/>
                                  </p:stCondLst>
                                  <p:childTnLst>
                                    <p:animEffect transition="out" filter="fade">
                                      <p:cBhvr>
                                        <p:cTn id="32" dur="1000"/>
                                        <p:tgtEl>
                                          <p:spTgt spid="9"/>
                                        </p:tgtEl>
                                      </p:cBhvr>
                                    </p:animEffect>
                                    <p:anim calcmode="lin" valueType="num">
                                      <p:cBhvr>
                                        <p:cTn id="33" dur="1000"/>
                                        <p:tgtEl>
                                          <p:spTgt spid="9"/>
                                        </p:tgtEl>
                                        <p:attrNameLst>
                                          <p:attrName>ppt_x</p:attrName>
                                        </p:attrNameLst>
                                      </p:cBhvr>
                                      <p:tavLst>
                                        <p:tav tm="0">
                                          <p:val>
                                            <p:strVal val="ppt_x"/>
                                          </p:val>
                                        </p:tav>
                                        <p:tav tm="100000">
                                          <p:val>
                                            <p:strVal val="ppt_x"/>
                                          </p:val>
                                        </p:tav>
                                      </p:tavLst>
                                    </p:anim>
                                    <p:anim calcmode="lin" valueType="num">
                                      <p:cBhvr>
                                        <p:cTn id="34" dur="1000"/>
                                        <p:tgtEl>
                                          <p:spTgt spid="9"/>
                                        </p:tgtEl>
                                        <p:attrNameLst>
                                          <p:attrName>ppt_y</p:attrName>
                                        </p:attrNameLst>
                                      </p:cBhvr>
                                      <p:tavLst>
                                        <p:tav tm="0">
                                          <p:val>
                                            <p:strVal val="ppt_y"/>
                                          </p:val>
                                        </p:tav>
                                        <p:tav tm="100000">
                                          <p:val>
                                            <p:strVal val="ppt_y+.1"/>
                                          </p:val>
                                        </p:tav>
                                      </p:tavLst>
                                    </p:anim>
                                    <p:set>
                                      <p:cBhvr>
                                        <p:cTn id="35" dur="1" fill="hold">
                                          <p:stCondLst>
                                            <p:cond delay="999"/>
                                          </p:stCondLst>
                                        </p:cTn>
                                        <p:tgtEl>
                                          <p:spTgt spid="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xit" presetSubtype="0" fill="hold" grpId="1" nodeType="clickEffect">
                                  <p:stCondLst>
                                    <p:cond delay="0"/>
                                  </p:stCondLst>
                                  <p:childTnLst>
                                    <p:animEffect transition="out" filter="fade">
                                      <p:cBhvr>
                                        <p:cTn id="53" dur="1000"/>
                                        <p:tgtEl>
                                          <p:spTgt spid="10"/>
                                        </p:tgtEl>
                                      </p:cBhvr>
                                    </p:animEffect>
                                    <p:anim calcmode="lin" valueType="num">
                                      <p:cBhvr>
                                        <p:cTn id="54" dur="1000"/>
                                        <p:tgtEl>
                                          <p:spTgt spid="10"/>
                                        </p:tgtEl>
                                        <p:attrNameLst>
                                          <p:attrName>ppt_x</p:attrName>
                                        </p:attrNameLst>
                                      </p:cBhvr>
                                      <p:tavLst>
                                        <p:tav tm="0">
                                          <p:val>
                                            <p:strVal val="ppt_x"/>
                                          </p:val>
                                        </p:tav>
                                        <p:tav tm="100000">
                                          <p:val>
                                            <p:strVal val="ppt_x"/>
                                          </p:val>
                                        </p:tav>
                                      </p:tavLst>
                                    </p:anim>
                                    <p:anim calcmode="lin" valueType="num">
                                      <p:cBhvr>
                                        <p:cTn id="55" dur="1000"/>
                                        <p:tgtEl>
                                          <p:spTgt spid="10"/>
                                        </p:tgtEl>
                                        <p:attrNameLst>
                                          <p:attrName>ppt_y</p:attrName>
                                        </p:attrNameLst>
                                      </p:cBhvr>
                                      <p:tavLst>
                                        <p:tav tm="0">
                                          <p:val>
                                            <p:strVal val="ppt_y"/>
                                          </p:val>
                                        </p:tav>
                                        <p:tav tm="100000">
                                          <p:val>
                                            <p:strVal val="ppt_y+.1"/>
                                          </p:val>
                                        </p:tav>
                                      </p:tavLst>
                                    </p:anim>
                                    <p:set>
                                      <p:cBhvr>
                                        <p:cTn id="56" dur="1" fill="hold">
                                          <p:stCondLst>
                                            <p:cond delay="999"/>
                                          </p:stCondLst>
                                        </p:cTn>
                                        <p:tgtEl>
                                          <p:spTgt spid="1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4" presetClass="emph" presetSubtype="0" fill="hold" nodeType="clickEffect">
                                  <p:stCondLst>
                                    <p:cond delay="0"/>
                                  </p:stCondLst>
                                  <p:childTnLst>
                                    <p:animClr clrSpc="hsl" dir="cw">
                                      <p:cBhvr override="childStyle">
                                        <p:cTn id="60" dur="500" fill="hold"/>
                                        <p:tgtEl>
                                          <p:spTgt spid="12"/>
                                        </p:tgtEl>
                                        <p:attrNameLst>
                                          <p:attrName>style.color</p:attrName>
                                        </p:attrNameLst>
                                      </p:cBhvr>
                                      <p:by>
                                        <p:hsl h="0" s="-12549" l="-25098"/>
                                      </p:by>
                                    </p:animClr>
                                    <p:animClr clrSpc="hsl" dir="cw">
                                      <p:cBhvr>
                                        <p:cTn id="61" dur="500" fill="hold"/>
                                        <p:tgtEl>
                                          <p:spTgt spid="12"/>
                                        </p:tgtEl>
                                        <p:attrNameLst>
                                          <p:attrName>fillcolor</p:attrName>
                                        </p:attrNameLst>
                                      </p:cBhvr>
                                      <p:by>
                                        <p:hsl h="0" s="-12549" l="-25098"/>
                                      </p:by>
                                    </p:animClr>
                                    <p:animClr clrSpc="hsl" dir="cw">
                                      <p:cBhvr>
                                        <p:cTn id="62" dur="500" fill="hold"/>
                                        <p:tgtEl>
                                          <p:spTgt spid="12"/>
                                        </p:tgtEl>
                                        <p:attrNameLst>
                                          <p:attrName>stroke.color</p:attrName>
                                        </p:attrNameLst>
                                      </p:cBhvr>
                                      <p:by>
                                        <p:hsl h="0" s="-12549" l="-25098"/>
                                      </p:by>
                                    </p:animClr>
                                    <p:set>
                                      <p:cBhvr>
                                        <p:cTn id="63" dur="500" fill="hold"/>
                                        <p:tgtEl>
                                          <p:spTgt spid="12"/>
                                        </p:tgtEl>
                                        <p:attrNameLst>
                                          <p:attrName>fill.type</p:attrName>
                                        </p:attrNameLst>
                                      </p:cBhvr>
                                      <p:to>
                                        <p:strVal val="solid"/>
                                      </p:to>
                                    </p:set>
                                  </p:childTnLst>
                                </p:cTn>
                              </p:par>
                            </p:childTnLst>
                          </p:cTn>
                        </p:par>
                      </p:childTnLst>
                    </p:cTn>
                  </p:par>
                  <p:par>
                    <p:cTn id="64" fill="hold">
                      <p:stCondLst>
                        <p:cond delay="indefinite"/>
                      </p:stCondLst>
                      <p:childTnLst>
                        <p:par>
                          <p:cTn id="65" fill="hold">
                            <p:stCondLst>
                              <p:cond delay="0"/>
                            </p:stCondLst>
                            <p:childTnLst>
                              <p:par>
                                <p:cTn id="66" presetID="42" presetClass="exit" presetSubtype="0" fill="hold" nodeType="clickEffect">
                                  <p:stCondLst>
                                    <p:cond delay="0"/>
                                  </p:stCondLst>
                                  <p:childTnLst>
                                    <p:animEffect transition="out" filter="fade">
                                      <p:cBhvr>
                                        <p:cTn id="67" dur="1000"/>
                                        <p:tgtEl>
                                          <p:spTgt spid="12"/>
                                        </p:tgtEl>
                                      </p:cBhvr>
                                    </p:animEffect>
                                    <p:anim calcmode="lin" valueType="num">
                                      <p:cBhvr>
                                        <p:cTn id="68" dur="1000"/>
                                        <p:tgtEl>
                                          <p:spTgt spid="12"/>
                                        </p:tgtEl>
                                        <p:attrNameLst>
                                          <p:attrName>ppt_x</p:attrName>
                                        </p:attrNameLst>
                                      </p:cBhvr>
                                      <p:tavLst>
                                        <p:tav tm="0">
                                          <p:val>
                                            <p:strVal val="ppt_x"/>
                                          </p:val>
                                        </p:tav>
                                        <p:tav tm="100000">
                                          <p:val>
                                            <p:strVal val="ppt_x"/>
                                          </p:val>
                                        </p:tav>
                                      </p:tavLst>
                                    </p:anim>
                                    <p:anim calcmode="lin" valueType="num">
                                      <p:cBhvr>
                                        <p:cTn id="69" dur="1000"/>
                                        <p:tgtEl>
                                          <p:spTgt spid="12"/>
                                        </p:tgtEl>
                                        <p:attrNameLst>
                                          <p:attrName>ppt_y</p:attrName>
                                        </p:attrNameLst>
                                      </p:cBhvr>
                                      <p:tavLst>
                                        <p:tav tm="0">
                                          <p:val>
                                            <p:strVal val="ppt_y"/>
                                          </p:val>
                                        </p:tav>
                                        <p:tav tm="100000">
                                          <p:val>
                                            <p:strVal val="ppt_y+.1"/>
                                          </p:val>
                                        </p:tav>
                                      </p:tavLst>
                                    </p:anim>
                                    <p:set>
                                      <p:cBhvr>
                                        <p:cTn id="70" dur="1" fill="hold">
                                          <p:stCondLst>
                                            <p:cond delay="999"/>
                                          </p:stCondLst>
                                        </p:cTn>
                                        <p:tgtEl>
                                          <p:spTgt spid="1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1000"/>
                                        <p:tgtEl>
                                          <p:spTgt spid="13"/>
                                        </p:tgtEl>
                                      </p:cBhvr>
                                    </p:animEffect>
                                    <p:anim calcmode="lin" valueType="num">
                                      <p:cBhvr>
                                        <p:cTn id="76" dur="1000" fill="hold"/>
                                        <p:tgtEl>
                                          <p:spTgt spid="13"/>
                                        </p:tgtEl>
                                        <p:attrNameLst>
                                          <p:attrName>ppt_x</p:attrName>
                                        </p:attrNameLst>
                                      </p:cBhvr>
                                      <p:tavLst>
                                        <p:tav tm="0">
                                          <p:val>
                                            <p:strVal val="#ppt_x"/>
                                          </p:val>
                                        </p:tav>
                                        <p:tav tm="100000">
                                          <p:val>
                                            <p:strVal val="#ppt_x"/>
                                          </p:val>
                                        </p:tav>
                                      </p:tavLst>
                                    </p:anim>
                                    <p:anim calcmode="lin" valueType="num">
                                      <p:cBhvr>
                                        <p:cTn id="7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1000"/>
                                        <p:tgtEl>
                                          <p:spTgt spid="15"/>
                                        </p:tgtEl>
                                      </p:cBhvr>
                                    </p:animEffect>
                                    <p:anim calcmode="lin" valueType="num">
                                      <p:cBhvr>
                                        <p:cTn id="83" dur="1000" fill="hold"/>
                                        <p:tgtEl>
                                          <p:spTgt spid="15"/>
                                        </p:tgtEl>
                                        <p:attrNameLst>
                                          <p:attrName>ppt_x</p:attrName>
                                        </p:attrNameLst>
                                      </p:cBhvr>
                                      <p:tavLst>
                                        <p:tav tm="0">
                                          <p:val>
                                            <p:strVal val="#ppt_x"/>
                                          </p:val>
                                        </p:tav>
                                        <p:tav tm="100000">
                                          <p:val>
                                            <p:strVal val="#ppt_x"/>
                                          </p:val>
                                        </p:tav>
                                      </p:tavLst>
                                    </p:anim>
                                    <p:anim calcmode="lin" valueType="num">
                                      <p:cBhvr>
                                        <p:cTn id="8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6" grpId="1"/>
      <p:bldP spid="10" grpId="0"/>
      <p:bldP spid="10" grpId="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8C2B4DF-A5D5-DA2E-FB1F-079BAFC0F46A}"/>
              </a:ext>
            </a:extLst>
          </p:cNvPr>
          <p:cNvSpPr/>
          <p:nvPr/>
        </p:nvSpPr>
        <p:spPr>
          <a:xfrm>
            <a:off x="4743834" y="662787"/>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3060AF3-86EB-8FEA-8286-CA9970614009}"/>
              </a:ext>
            </a:extLst>
          </p:cNvPr>
          <p:cNvSpPr txBox="1"/>
          <p:nvPr/>
        </p:nvSpPr>
        <p:spPr>
          <a:xfrm>
            <a:off x="4709057" y="583006"/>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关键流程</a:t>
            </a:r>
            <a:endParaRPr lang="en-US" altLang="zh-CN" sz="4400" dirty="0">
              <a:latin typeface="隶书" panose="02010509060101010101" pitchFamily="49" charset="-122"/>
              <a:ea typeface="隶书" panose="02010509060101010101" pitchFamily="49" charset="-122"/>
            </a:endParaRPr>
          </a:p>
        </p:txBody>
      </p:sp>
      <p:pic>
        <p:nvPicPr>
          <p:cNvPr id="5" name="图片 4" descr="图示&#10;&#10;AI 生成的内容可能不正确。">
            <a:extLst>
              <a:ext uri="{FF2B5EF4-FFF2-40B4-BE49-F238E27FC236}">
                <a16:creationId xmlns:a16="http://schemas.microsoft.com/office/drawing/2014/main" id="{D9B73BC8-0EF5-4EE4-FBC8-E3D5B5C39C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408" y="1778102"/>
            <a:ext cx="7649184" cy="4582809"/>
          </a:xfrm>
          <a:prstGeom prst="rect">
            <a:avLst/>
          </a:prstGeom>
        </p:spPr>
      </p:pic>
    </p:spTree>
    <p:extLst>
      <p:ext uri="{BB962C8B-B14F-4D97-AF65-F5344CB8AC3E}">
        <p14:creationId xmlns:p14="http://schemas.microsoft.com/office/powerpoint/2010/main" val="3614188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83E1399-DD24-894D-3C29-AA85F78341F4}"/>
              </a:ext>
            </a:extLst>
          </p:cNvPr>
          <p:cNvSpPr/>
          <p:nvPr/>
        </p:nvSpPr>
        <p:spPr>
          <a:xfrm>
            <a:off x="4743834" y="662787"/>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8DC1467-FD7A-81C6-0499-939D955A9648}"/>
              </a:ext>
            </a:extLst>
          </p:cNvPr>
          <p:cNvSpPr txBox="1"/>
          <p:nvPr/>
        </p:nvSpPr>
        <p:spPr>
          <a:xfrm>
            <a:off x="4709057" y="583006"/>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实现功能</a:t>
            </a:r>
            <a:endParaRPr lang="en-US" altLang="zh-CN" sz="4400" dirty="0">
              <a:latin typeface="隶书" panose="02010509060101010101" pitchFamily="49" charset="-122"/>
              <a:ea typeface="隶书" panose="02010509060101010101" pitchFamily="49" charset="-122"/>
            </a:endParaRPr>
          </a:p>
        </p:txBody>
      </p:sp>
      <p:sp>
        <p:nvSpPr>
          <p:cNvPr id="6" name="矩形 5">
            <a:extLst>
              <a:ext uri="{FF2B5EF4-FFF2-40B4-BE49-F238E27FC236}">
                <a16:creationId xmlns:a16="http://schemas.microsoft.com/office/drawing/2014/main" id="{AB2DD934-081B-0D20-2B4D-A68032BCCCE7}"/>
              </a:ext>
            </a:extLst>
          </p:cNvPr>
          <p:cNvSpPr/>
          <p:nvPr/>
        </p:nvSpPr>
        <p:spPr>
          <a:xfrm>
            <a:off x="1075765" y="1512794"/>
            <a:ext cx="10239935" cy="5183841"/>
          </a:xfrm>
          <a:prstGeom prst="rect">
            <a:avLst/>
          </a:prstGeom>
          <a:solidFill>
            <a:srgbClr val="000000">
              <a:alpha val="3098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一、系统命令：</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1. .open </a:t>
            </a:r>
            <a:r>
              <a:rPr lang="en-US" altLang="zh-CN" sz="2000" dirty="0" err="1">
                <a:solidFill>
                  <a:schemeClr val="tx2">
                    <a:lumMod val="75000"/>
                    <a:lumOff val="25000"/>
                  </a:schemeClr>
                </a:solidFill>
                <a:latin typeface="HarmonyOS Sans SC" panose="00000800000000000000" pitchFamily="2" charset="-122"/>
                <a:ea typeface="HarmonyOS Sans SC" panose="00000800000000000000" pitchFamily="2" charset="-122"/>
              </a:rPr>
              <a:t>dbname</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打开</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创建数据库文件</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2. .save </a:t>
            </a:r>
            <a:r>
              <a:rPr lang="en-US" altLang="zh-CN" sz="2000" dirty="0" err="1">
                <a:solidFill>
                  <a:schemeClr val="tx2">
                    <a:lumMod val="75000"/>
                    <a:lumOff val="25000"/>
                  </a:schemeClr>
                </a:solidFill>
                <a:latin typeface="HarmonyOS Sans SC" panose="00000800000000000000" pitchFamily="2" charset="-122"/>
                <a:ea typeface="HarmonyOS Sans SC" panose="00000800000000000000" pitchFamily="2" charset="-122"/>
              </a:rPr>
              <a:t>dbname</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保存数据库到文件</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3. .drop </a:t>
            </a:r>
            <a:r>
              <a:rPr lang="en-US" altLang="zh-CN" sz="2000" dirty="0" err="1">
                <a:solidFill>
                  <a:schemeClr val="tx2">
                    <a:lumMod val="75000"/>
                    <a:lumOff val="25000"/>
                  </a:schemeClr>
                </a:solidFill>
                <a:latin typeface="HarmonyOS Sans SC" panose="00000800000000000000" pitchFamily="2" charset="-122"/>
                <a:ea typeface="HarmonyOS Sans SC" panose="00000800000000000000" pitchFamily="2" charset="-122"/>
              </a:rPr>
              <a:t>dbname</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删除数据库文件</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4. .tables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列出所有表名</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5. .quit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退出系统（询问保存）</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6. .help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显示帮助信息</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二、数据表管理：</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pPr marL="342900" indent="-342900">
              <a:buAutoNum type="arabicPeriod"/>
            </a:pP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create table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字段 类型</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创建表</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2. drop table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删除表</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3. info table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查看表结构（字段</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类型）</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三、数据操作：</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pPr marL="342900" indent="-342900">
              <a:buAutoNum type="arabicPeriod"/>
            </a:pP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insert into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values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值</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1,</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值</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2,...)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插入数据</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2. select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字段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from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[where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条件</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[order by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字段 </a:t>
            </a:r>
            <a:r>
              <a:rPr lang="en-US" altLang="zh-CN" sz="2000" dirty="0" err="1">
                <a:solidFill>
                  <a:schemeClr val="tx2">
                    <a:lumMod val="75000"/>
                    <a:lumOff val="25000"/>
                  </a:schemeClr>
                </a:solidFill>
                <a:latin typeface="HarmonyOS Sans SC" panose="00000800000000000000" pitchFamily="2" charset="-122"/>
                <a:ea typeface="HarmonyOS Sans SC" panose="00000800000000000000" pitchFamily="2" charset="-122"/>
              </a:rPr>
              <a:t>asc</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/desc] -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查询数据</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3. delete from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表名 </a:t>
            </a:r>
            <a:r>
              <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rPr>
              <a:t>- </a:t>
            </a:r>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删除数据（当前仅支持清空全表）</a:t>
            </a:r>
            <a:endParaRPr lang="en-US" altLang="zh-CN" sz="2000" dirty="0">
              <a:solidFill>
                <a:schemeClr val="tx2">
                  <a:lumMod val="75000"/>
                  <a:lumOff val="25000"/>
                </a:schemeClr>
              </a:solidFill>
              <a:latin typeface="HarmonyOS Sans SC" panose="00000800000000000000" pitchFamily="2" charset="-122"/>
              <a:ea typeface="HarmonyOS Sans SC" panose="00000800000000000000" pitchFamily="2" charset="-122"/>
            </a:endParaRPr>
          </a:p>
          <a:p>
            <a:r>
              <a:rPr lang="zh-CN" altLang="en-US" sz="2000" dirty="0">
                <a:solidFill>
                  <a:schemeClr val="tx2">
                    <a:lumMod val="75000"/>
                    <a:lumOff val="25000"/>
                  </a:schemeClr>
                </a:solidFill>
                <a:latin typeface="HarmonyOS Sans SC" panose="00000800000000000000" pitchFamily="2" charset="-122"/>
                <a:ea typeface="HarmonyOS Sans SC" panose="00000800000000000000" pitchFamily="2" charset="-122"/>
              </a:rPr>
              <a:t>四、条件查询与排序 </a:t>
            </a:r>
          </a:p>
        </p:txBody>
      </p:sp>
    </p:spTree>
    <p:extLst>
      <p:ext uri="{BB962C8B-B14F-4D97-AF65-F5344CB8AC3E}">
        <p14:creationId xmlns:p14="http://schemas.microsoft.com/office/powerpoint/2010/main" val="356362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71ACA5-B464-E08D-8FBE-C68B1F5DE626}"/>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5505351C-2B24-30E4-3DF5-CB1CE7FDC6BF}"/>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6" name="图片 5" descr="文本&#10;&#10;AI 生成的内容可能不正确。">
            <a:extLst>
              <a:ext uri="{FF2B5EF4-FFF2-40B4-BE49-F238E27FC236}">
                <a16:creationId xmlns:a16="http://schemas.microsoft.com/office/drawing/2014/main" id="{63698D2F-961C-6F21-809A-FA080C24F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3847" y="1168340"/>
            <a:ext cx="3689401" cy="5452647"/>
          </a:xfrm>
          <a:prstGeom prst="rect">
            <a:avLst/>
          </a:prstGeom>
        </p:spPr>
      </p:pic>
      <p:pic>
        <p:nvPicPr>
          <p:cNvPr id="10" name="图片 9" descr="文本&#10;&#10;AI 生成的内容可能不正确。">
            <a:extLst>
              <a:ext uri="{FF2B5EF4-FFF2-40B4-BE49-F238E27FC236}">
                <a16:creationId xmlns:a16="http://schemas.microsoft.com/office/drawing/2014/main" id="{78C960ED-04A0-6752-9BED-400315BDC3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761" y="1145534"/>
            <a:ext cx="3639726" cy="5475453"/>
          </a:xfrm>
          <a:prstGeom prst="rect">
            <a:avLst/>
          </a:prstGeom>
        </p:spPr>
      </p:pic>
    </p:spTree>
    <p:extLst>
      <p:ext uri="{BB962C8B-B14F-4D97-AF65-F5344CB8AC3E}">
        <p14:creationId xmlns:p14="http://schemas.microsoft.com/office/powerpoint/2010/main" val="22699053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DA0F0A4-BB56-7D1A-E396-18942C469078}"/>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AB4A839B-A1BA-7737-EF36-B5D5C99AEEC1}"/>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61439EE3-0D8B-B171-E5E5-1189442213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074" y="1147602"/>
            <a:ext cx="4739544" cy="5342655"/>
          </a:xfrm>
          <a:prstGeom prst="rect">
            <a:avLst/>
          </a:prstGeom>
        </p:spPr>
      </p:pic>
      <p:pic>
        <p:nvPicPr>
          <p:cNvPr id="7" name="图片 6" descr="文本&#10;&#10;AI 生成的内容可能不正确。">
            <a:extLst>
              <a:ext uri="{FF2B5EF4-FFF2-40B4-BE49-F238E27FC236}">
                <a16:creationId xmlns:a16="http://schemas.microsoft.com/office/drawing/2014/main" id="{343244FE-E9FC-90F5-A8E4-3E496A9D3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7011" y="964111"/>
            <a:ext cx="3636945" cy="5783425"/>
          </a:xfrm>
          <a:prstGeom prst="rect">
            <a:avLst/>
          </a:prstGeom>
        </p:spPr>
      </p:pic>
    </p:spTree>
    <p:extLst>
      <p:ext uri="{BB962C8B-B14F-4D97-AF65-F5344CB8AC3E}">
        <p14:creationId xmlns:p14="http://schemas.microsoft.com/office/powerpoint/2010/main" val="39341875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DE89814-6A60-AF84-EF16-0187957AB9A9}"/>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1FC589CB-B45C-B706-B082-47C27E17C1E4}"/>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015B426B-C2B8-70C2-0288-6291E98DC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9396" y="945083"/>
            <a:ext cx="3932358" cy="5851546"/>
          </a:xfrm>
          <a:prstGeom prst="rect">
            <a:avLst/>
          </a:prstGeom>
        </p:spPr>
      </p:pic>
      <p:pic>
        <p:nvPicPr>
          <p:cNvPr id="7" name="图片 6" descr="文本&#10;&#10;AI 生成的内容可能不正确。">
            <a:extLst>
              <a:ext uri="{FF2B5EF4-FFF2-40B4-BE49-F238E27FC236}">
                <a16:creationId xmlns:a16="http://schemas.microsoft.com/office/drawing/2014/main" id="{8E775866-FC33-08E8-3535-52C8E66FE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8998" y="1006455"/>
            <a:ext cx="3897757" cy="5851545"/>
          </a:xfrm>
          <a:prstGeom prst="rect">
            <a:avLst/>
          </a:prstGeom>
        </p:spPr>
      </p:pic>
    </p:spTree>
    <p:extLst>
      <p:ext uri="{BB962C8B-B14F-4D97-AF65-F5344CB8AC3E}">
        <p14:creationId xmlns:p14="http://schemas.microsoft.com/office/powerpoint/2010/main" val="14463566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E8C5BD-A8EE-814B-FE9A-50A24FE4C6CD}"/>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A6298DAF-2568-4BB1-B787-CA1E1309BE7C}"/>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44F3A09D-72F1-C6F5-4B3B-B136684E6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855" y="1012591"/>
            <a:ext cx="4252167" cy="5581520"/>
          </a:xfrm>
          <a:prstGeom prst="rect">
            <a:avLst/>
          </a:prstGeom>
        </p:spPr>
      </p:pic>
      <p:pic>
        <p:nvPicPr>
          <p:cNvPr id="7" name="图片 6" descr="文本&#10;&#10;AI 生成的内容可能不正确。">
            <a:extLst>
              <a:ext uri="{FF2B5EF4-FFF2-40B4-BE49-F238E27FC236}">
                <a16:creationId xmlns:a16="http://schemas.microsoft.com/office/drawing/2014/main" id="{F88B7EF1-F275-7F26-BA8E-C6FF63B89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0336" y="1012591"/>
            <a:ext cx="4888235" cy="5653465"/>
          </a:xfrm>
          <a:prstGeom prst="rect">
            <a:avLst/>
          </a:prstGeom>
        </p:spPr>
      </p:pic>
    </p:spTree>
    <p:extLst>
      <p:ext uri="{BB962C8B-B14F-4D97-AF65-F5344CB8AC3E}">
        <p14:creationId xmlns:p14="http://schemas.microsoft.com/office/powerpoint/2010/main" val="3480583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CD3031B-4ECC-95BD-4565-12E5A6F110BB}"/>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60E56633-B959-6A70-4703-3005BC776DAB}"/>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53992A27-765F-25EA-962B-C087B7D2A3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0163" y="1043271"/>
            <a:ext cx="4129455" cy="5651355"/>
          </a:xfrm>
          <a:prstGeom prst="rect">
            <a:avLst/>
          </a:prstGeom>
        </p:spPr>
      </p:pic>
      <p:pic>
        <p:nvPicPr>
          <p:cNvPr id="7" name="图片 6" descr="文本&#10;&#10;AI 生成的内容可能不正确。">
            <a:extLst>
              <a:ext uri="{FF2B5EF4-FFF2-40B4-BE49-F238E27FC236}">
                <a16:creationId xmlns:a16="http://schemas.microsoft.com/office/drawing/2014/main" id="{C5DCF295-9945-D1E2-E3A6-429999403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1284" y="986599"/>
            <a:ext cx="4216944" cy="5764701"/>
          </a:xfrm>
          <a:prstGeom prst="rect">
            <a:avLst/>
          </a:prstGeom>
        </p:spPr>
      </p:pic>
    </p:spTree>
    <p:extLst>
      <p:ext uri="{BB962C8B-B14F-4D97-AF65-F5344CB8AC3E}">
        <p14:creationId xmlns:p14="http://schemas.microsoft.com/office/powerpoint/2010/main" val="10056385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7DB0AD-16F9-E3EF-4005-CBBCE04746E0}"/>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ltLang="zh-CN" dirty="0"/>
          </a:p>
          <a:p>
            <a:pPr algn="ctr"/>
            <a:endParaRPr lang="zh-CN" altLang="en-US" dirty="0"/>
          </a:p>
        </p:txBody>
      </p:sp>
      <p:sp>
        <p:nvSpPr>
          <p:cNvPr id="3" name="文本框 2">
            <a:extLst>
              <a:ext uri="{FF2B5EF4-FFF2-40B4-BE49-F238E27FC236}">
                <a16:creationId xmlns:a16="http://schemas.microsoft.com/office/drawing/2014/main" id="{440A132F-61C5-3CE8-66ED-F1B24CE9E403}"/>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E803BADB-706A-3313-6956-4EEA0A10D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367" y="1063837"/>
            <a:ext cx="4635866" cy="5683699"/>
          </a:xfrm>
          <a:prstGeom prst="rect">
            <a:avLst/>
          </a:prstGeom>
        </p:spPr>
      </p:pic>
      <p:pic>
        <p:nvPicPr>
          <p:cNvPr id="7" name="图片 6" descr="文本&#10;&#10;AI 生成的内容可能不正确。">
            <a:extLst>
              <a:ext uri="{FF2B5EF4-FFF2-40B4-BE49-F238E27FC236}">
                <a16:creationId xmlns:a16="http://schemas.microsoft.com/office/drawing/2014/main" id="{48410C9F-AFF4-D9B8-506E-E973B06C1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3769" y="1085964"/>
            <a:ext cx="3966489" cy="5717582"/>
          </a:xfrm>
          <a:prstGeom prst="rect">
            <a:avLst/>
          </a:prstGeom>
        </p:spPr>
      </p:pic>
    </p:spTree>
    <p:extLst>
      <p:ext uri="{BB962C8B-B14F-4D97-AF65-F5344CB8AC3E}">
        <p14:creationId xmlns:p14="http://schemas.microsoft.com/office/powerpoint/2010/main" val="1743124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FC22AA6-9948-3D5E-C365-4BF1180AC524}"/>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57A1CD4D-3D85-B49C-6566-E7434AFE612F}"/>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代码展示</a:t>
            </a:r>
            <a:endParaRPr lang="en-US" altLang="zh-CN" sz="4400" dirty="0">
              <a:latin typeface="隶书" panose="02010509060101010101" pitchFamily="49" charset="-122"/>
              <a:ea typeface="隶书" panose="02010509060101010101" pitchFamily="49" charset="-122"/>
            </a:endParaRPr>
          </a:p>
        </p:txBody>
      </p:sp>
      <p:pic>
        <p:nvPicPr>
          <p:cNvPr id="5" name="图片 4" descr="文本&#10;&#10;AI 生成的内容可能不正确。">
            <a:extLst>
              <a:ext uri="{FF2B5EF4-FFF2-40B4-BE49-F238E27FC236}">
                <a16:creationId xmlns:a16="http://schemas.microsoft.com/office/drawing/2014/main" id="{6C520B24-5086-D16D-DDB3-7680C0372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6556" y="1035668"/>
            <a:ext cx="4231448" cy="5698060"/>
          </a:xfrm>
          <a:prstGeom prst="rect">
            <a:avLst/>
          </a:prstGeom>
        </p:spPr>
      </p:pic>
      <p:pic>
        <p:nvPicPr>
          <p:cNvPr id="7" name="图片 6" descr="文本&#10;&#10;AI 生成的内容可能不正确。">
            <a:extLst>
              <a:ext uri="{FF2B5EF4-FFF2-40B4-BE49-F238E27FC236}">
                <a16:creationId xmlns:a16="http://schemas.microsoft.com/office/drawing/2014/main" id="{B88AA516-57BC-F107-C4B5-F5B843BA0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9593" y="1004327"/>
            <a:ext cx="4855527" cy="5610831"/>
          </a:xfrm>
          <a:prstGeom prst="rect">
            <a:avLst/>
          </a:prstGeom>
        </p:spPr>
      </p:pic>
      <p:pic>
        <p:nvPicPr>
          <p:cNvPr id="9" name="图片 8" descr="文本&#10;&#10;AI 生成的内容可能不正确。">
            <a:extLst>
              <a:ext uri="{FF2B5EF4-FFF2-40B4-BE49-F238E27FC236}">
                <a16:creationId xmlns:a16="http://schemas.microsoft.com/office/drawing/2014/main" id="{3DFEDEBA-D2DA-C5BE-941C-88C9BC2D6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6890" y="984382"/>
            <a:ext cx="3996460" cy="5698060"/>
          </a:xfrm>
          <a:prstGeom prst="rect">
            <a:avLst/>
          </a:prstGeom>
        </p:spPr>
      </p:pic>
    </p:spTree>
    <p:extLst>
      <p:ext uri="{BB962C8B-B14F-4D97-AF65-F5344CB8AC3E}">
        <p14:creationId xmlns:p14="http://schemas.microsoft.com/office/powerpoint/2010/main" val="35618591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03BD85F-D944-B373-88D1-DE6A18574218}"/>
              </a:ext>
            </a:extLst>
          </p:cNvPr>
          <p:cNvSpPr/>
          <p:nvPr/>
        </p:nvSpPr>
        <p:spPr>
          <a:xfrm>
            <a:off x="4578138" y="110464"/>
            <a:ext cx="2878212" cy="724155"/>
          </a:xfrm>
          <a:prstGeom prst="rect">
            <a:avLst/>
          </a:prstGeom>
          <a:solidFill>
            <a:srgbClr val="26BEBE"/>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B6891211-FB72-517E-541A-0EA3D3AB50D8}"/>
              </a:ext>
            </a:extLst>
          </p:cNvPr>
          <p:cNvSpPr/>
          <p:nvPr/>
        </p:nvSpPr>
        <p:spPr>
          <a:xfrm>
            <a:off x="1436038" y="1116919"/>
            <a:ext cx="9125589" cy="597236"/>
          </a:xfrm>
          <a:prstGeom prst="rect">
            <a:avLst/>
          </a:prstGeom>
          <a:solidFill>
            <a:srgbClr val="000000">
              <a:alpha val="54118"/>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1AF850-75A6-E2F5-A625-8DAEDF929E47}"/>
              </a:ext>
            </a:extLst>
          </p:cNvPr>
          <p:cNvSpPr txBox="1"/>
          <p:nvPr/>
        </p:nvSpPr>
        <p:spPr>
          <a:xfrm>
            <a:off x="1436038" y="1067823"/>
            <a:ext cx="9186958" cy="646331"/>
          </a:xfrm>
          <a:prstGeom prst="rect">
            <a:avLst/>
          </a:prstGeom>
          <a:noFill/>
        </p:spPr>
        <p:txBody>
          <a:bodyPr wrap="square" rtlCol="0">
            <a:spAutoFit/>
          </a:bodyPr>
          <a:lstStyle/>
          <a:p>
            <a:r>
              <a:rPr lang="zh-CN" altLang="en-US" dirty="0">
                <a:solidFill>
                  <a:schemeClr val="tx2">
                    <a:lumMod val="10000"/>
                    <a:lumOff val="90000"/>
                  </a:schemeClr>
                </a:solidFill>
                <a:latin typeface="HarmonyOS Sans SC" panose="00000800000000000000" pitchFamily="2" charset="-122"/>
                <a:ea typeface="HarmonyOS Sans SC" panose="00000800000000000000" pitchFamily="2" charset="-122"/>
              </a:rPr>
              <a:t>本次的代码以结构体为主要形式储存数据，通过解析输入的命令以调用工具函数来对数据库文件进行相应的操作。</a:t>
            </a:r>
          </a:p>
        </p:txBody>
      </p:sp>
      <p:sp>
        <p:nvSpPr>
          <p:cNvPr id="3" name="文本框 2">
            <a:extLst>
              <a:ext uri="{FF2B5EF4-FFF2-40B4-BE49-F238E27FC236}">
                <a16:creationId xmlns:a16="http://schemas.microsoft.com/office/drawing/2014/main" id="{E44D2100-5E86-2C72-D1C5-036DE82B50A5}"/>
              </a:ext>
            </a:extLst>
          </p:cNvPr>
          <p:cNvSpPr txBox="1"/>
          <p:nvPr/>
        </p:nvSpPr>
        <p:spPr>
          <a:xfrm>
            <a:off x="4512676" y="0"/>
            <a:ext cx="2773885" cy="769441"/>
          </a:xfrm>
          <a:prstGeom prst="rect">
            <a:avLst/>
          </a:prstGeom>
          <a:noFill/>
        </p:spPr>
        <p:txBody>
          <a:bodyPr wrap="square" rtlCol="0">
            <a:spAutoFit/>
          </a:bodyPr>
          <a:lstStyle/>
          <a:p>
            <a:r>
              <a:rPr lang="en-US" altLang="zh-CN" sz="4400" dirty="0">
                <a:latin typeface="隶书" panose="02010509060101010101" pitchFamily="49" charset="-122"/>
                <a:ea typeface="隶书" panose="02010509060101010101" pitchFamily="49" charset="-122"/>
              </a:rPr>
              <a:t> </a:t>
            </a:r>
            <a:r>
              <a:rPr lang="zh-CN" altLang="en-US" sz="4400" dirty="0">
                <a:latin typeface="隶书" panose="02010509060101010101" pitchFamily="49" charset="-122"/>
                <a:ea typeface="隶书" panose="02010509060101010101" pitchFamily="49" charset="-122"/>
              </a:rPr>
              <a:t>总结分析</a:t>
            </a:r>
            <a:endParaRPr lang="en-US" altLang="zh-CN" sz="4400" dirty="0">
              <a:latin typeface="隶书" panose="02010509060101010101" pitchFamily="49" charset="-122"/>
              <a:ea typeface="隶书" panose="02010509060101010101" pitchFamily="49" charset="-122"/>
            </a:endParaRPr>
          </a:p>
        </p:txBody>
      </p:sp>
      <p:sp>
        <p:nvSpPr>
          <p:cNvPr id="9" name="矩形 8">
            <a:extLst>
              <a:ext uri="{FF2B5EF4-FFF2-40B4-BE49-F238E27FC236}">
                <a16:creationId xmlns:a16="http://schemas.microsoft.com/office/drawing/2014/main" id="{052DB79E-BA0F-37B8-4354-3708369A46F3}"/>
              </a:ext>
            </a:extLst>
          </p:cNvPr>
          <p:cNvSpPr/>
          <p:nvPr/>
        </p:nvSpPr>
        <p:spPr>
          <a:xfrm>
            <a:off x="229111" y="2327008"/>
            <a:ext cx="975769" cy="3343500"/>
          </a:xfrm>
          <a:prstGeom prst="rect">
            <a:avLst/>
          </a:prstGeom>
          <a:solidFill>
            <a:srgbClr val="FBF999"/>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004548D-095F-A66D-FB6E-66E1F11E34EB}"/>
              </a:ext>
            </a:extLst>
          </p:cNvPr>
          <p:cNvSpPr txBox="1"/>
          <p:nvPr/>
        </p:nvSpPr>
        <p:spPr>
          <a:xfrm>
            <a:off x="275169" y="2786158"/>
            <a:ext cx="861774" cy="4510630"/>
          </a:xfrm>
          <a:prstGeom prst="rect">
            <a:avLst/>
          </a:prstGeom>
          <a:noFill/>
        </p:spPr>
        <p:txBody>
          <a:bodyPr vert="eaVert" wrap="square" rtlCol="0">
            <a:spAutoFit/>
          </a:bodyPr>
          <a:lstStyle/>
          <a:p>
            <a:r>
              <a:rPr lang="zh-CN" altLang="en-US" sz="4400" dirty="0">
                <a:latin typeface="方正粗黑宋简体" panose="02000000000000000000" pitchFamily="2" charset="-122"/>
                <a:ea typeface="方正粗黑宋简体" panose="02000000000000000000" pitchFamily="2" charset="-122"/>
              </a:rPr>
              <a:t>性能分析</a:t>
            </a:r>
          </a:p>
        </p:txBody>
      </p:sp>
      <p:sp>
        <p:nvSpPr>
          <p:cNvPr id="11" name="矩形 10">
            <a:extLst>
              <a:ext uri="{FF2B5EF4-FFF2-40B4-BE49-F238E27FC236}">
                <a16:creationId xmlns:a16="http://schemas.microsoft.com/office/drawing/2014/main" id="{4B417D6B-8D1A-68BE-AAF9-DF329EB955B0}"/>
              </a:ext>
            </a:extLst>
          </p:cNvPr>
          <p:cNvSpPr/>
          <p:nvPr/>
        </p:nvSpPr>
        <p:spPr>
          <a:xfrm>
            <a:off x="1386942" y="2111098"/>
            <a:ext cx="4516768" cy="4197648"/>
          </a:xfrm>
          <a:prstGeom prst="rect">
            <a:avLst/>
          </a:prstGeom>
          <a:solidFill>
            <a:schemeClr val="tx2">
              <a:lumMod val="25000"/>
              <a:lumOff val="75000"/>
              <a:alpha val="54118"/>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C0B24BB5-C8E7-1BD3-1434-C0FD2B424208}"/>
              </a:ext>
            </a:extLst>
          </p:cNvPr>
          <p:cNvSpPr txBox="1"/>
          <p:nvPr/>
        </p:nvSpPr>
        <p:spPr>
          <a:xfrm>
            <a:off x="1436038" y="2118353"/>
            <a:ext cx="4659962" cy="4031873"/>
          </a:xfrm>
          <a:prstGeom prst="rect">
            <a:avLst/>
          </a:prstGeom>
          <a:noFill/>
        </p:spPr>
        <p:txBody>
          <a:bodyPr wrap="square" rtlCol="0">
            <a:spAutoFit/>
          </a:bodyPr>
          <a:lstStyle/>
          <a:p>
            <a:r>
              <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rPr>
              <a:t>1.</a:t>
            </a:r>
            <a:r>
              <a:rPr lang="zh-CN" altLang="en-US" sz="2400" dirty="0">
                <a:solidFill>
                  <a:schemeClr val="accent6">
                    <a:lumMod val="60000"/>
                    <a:lumOff val="40000"/>
                  </a:schemeClr>
                </a:solidFill>
                <a:latin typeface="HarmonyOS Sans SC" panose="00000800000000000000" pitchFamily="2" charset="-122"/>
                <a:ea typeface="HarmonyOS Sans SC" panose="00000800000000000000" pitchFamily="2" charset="-122"/>
              </a:rPr>
              <a:t>内存访问快   </a:t>
            </a:r>
            <a:endPar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结构体连续存储，缓存利用率高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无动态内存分配开销</a:t>
            </a:r>
            <a:endParaRPr lang="en-US" altLang="zh-CN" sz="2000" dirty="0">
              <a:latin typeface="华文楷体" panose="02010600040101010101" pitchFamily="2" charset="-122"/>
              <a:ea typeface="华文楷体" panose="02010600040101010101" pitchFamily="2" charset="-122"/>
            </a:endParaRPr>
          </a:p>
          <a:p>
            <a:r>
              <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rPr>
              <a:t>2. </a:t>
            </a:r>
            <a:r>
              <a:rPr lang="zh-CN" altLang="en-US" sz="2400" dirty="0">
                <a:solidFill>
                  <a:schemeClr val="accent6">
                    <a:lumMod val="60000"/>
                    <a:lumOff val="40000"/>
                  </a:schemeClr>
                </a:solidFill>
                <a:latin typeface="HarmonyOS Sans SC" panose="00000800000000000000" pitchFamily="2" charset="-122"/>
                <a:ea typeface="HarmonyOS Sans SC" panose="00000800000000000000" pitchFamily="2" charset="-122"/>
              </a:rPr>
              <a:t>文件</a:t>
            </a:r>
            <a:r>
              <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rPr>
              <a:t>IO</a:t>
            </a:r>
            <a:r>
              <a:rPr lang="zh-CN" altLang="en-US" sz="2400" dirty="0">
                <a:solidFill>
                  <a:schemeClr val="accent6">
                    <a:lumMod val="60000"/>
                    <a:lumOff val="40000"/>
                  </a:schemeClr>
                </a:solidFill>
                <a:latin typeface="HarmonyOS Sans SC" panose="00000800000000000000" pitchFamily="2" charset="-122"/>
                <a:ea typeface="HarmonyOS Sans SC" panose="00000800000000000000" pitchFamily="2" charset="-122"/>
              </a:rPr>
              <a:t>高效   </a:t>
            </a:r>
            <a:endPar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整库一次性读写，减少磁盘寻址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二进制格式无解析开销</a:t>
            </a:r>
            <a:endParaRPr lang="en-US" altLang="zh-CN" sz="2000" dirty="0">
              <a:latin typeface="华文楷体" panose="02010600040101010101" pitchFamily="2" charset="-122"/>
              <a:ea typeface="华文楷体" panose="02010600040101010101" pitchFamily="2" charset="-122"/>
            </a:endParaRPr>
          </a:p>
          <a:p>
            <a:r>
              <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rPr>
              <a:t>3. </a:t>
            </a:r>
            <a:r>
              <a:rPr lang="zh-CN" altLang="en-US" sz="2400" dirty="0">
                <a:solidFill>
                  <a:schemeClr val="accent6">
                    <a:lumMod val="60000"/>
                    <a:lumOff val="40000"/>
                  </a:schemeClr>
                </a:solidFill>
                <a:latin typeface="HarmonyOS Sans SC" panose="00000800000000000000" pitchFamily="2" charset="-122"/>
                <a:ea typeface="HarmonyOS Sans SC" panose="00000800000000000000" pitchFamily="2" charset="-122"/>
              </a:rPr>
              <a:t>小数据查询快   </a:t>
            </a:r>
            <a:endPar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1000</a:t>
            </a:r>
            <a:r>
              <a:rPr lang="zh-CN" altLang="en-US" sz="2000" dirty="0">
                <a:latin typeface="华文楷体" panose="02010600040101010101" pitchFamily="2" charset="-122"/>
                <a:ea typeface="华文楷体" panose="02010600040101010101" pitchFamily="2" charset="-122"/>
              </a:rPr>
              <a:t>行内查询响应在毫秒级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顺序扫描简单直接</a:t>
            </a:r>
            <a:endParaRPr lang="en-US" altLang="zh-CN" sz="2000" dirty="0">
              <a:latin typeface="华文楷体" panose="02010600040101010101" pitchFamily="2" charset="-122"/>
              <a:ea typeface="华文楷体" panose="02010600040101010101" pitchFamily="2" charset="-122"/>
            </a:endParaRPr>
          </a:p>
          <a:p>
            <a:r>
              <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rPr>
              <a:t>4. </a:t>
            </a:r>
            <a:r>
              <a:rPr lang="zh-CN" altLang="en-US" sz="2400" dirty="0">
                <a:solidFill>
                  <a:schemeClr val="accent6">
                    <a:lumMod val="60000"/>
                    <a:lumOff val="40000"/>
                  </a:schemeClr>
                </a:solidFill>
                <a:latin typeface="HarmonyOS Sans SC" panose="00000800000000000000" pitchFamily="2" charset="-122"/>
                <a:ea typeface="HarmonyOS Sans SC" panose="00000800000000000000" pitchFamily="2" charset="-122"/>
              </a:rPr>
              <a:t>零外部依赖   </a:t>
            </a:r>
            <a:endParaRPr lang="en-US" altLang="zh-CN" sz="2400" dirty="0">
              <a:solidFill>
                <a:schemeClr val="accent6">
                  <a:lumMod val="60000"/>
                  <a:lumOff val="40000"/>
                </a:schemeClr>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纯</a:t>
            </a:r>
            <a:r>
              <a:rPr lang="en-US" altLang="zh-CN" sz="2000" dirty="0">
                <a:latin typeface="华文楷体" panose="02010600040101010101" pitchFamily="2" charset="-122"/>
                <a:ea typeface="华文楷体" panose="02010600040101010101" pitchFamily="2" charset="-122"/>
              </a:rPr>
              <a:t>C</a:t>
            </a:r>
            <a:r>
              <a:rPr lang="zh-CN" altLang="en-US" sz="2000" dirty="0">
                <a:latin typeface="华文楷体" panose="02010600040101010101" pitchFamily="2" charset="-122"/>
                <a:ea typeface="华文楷体" panose="02010600040101010101" pitchFamily="2" charset="-122"/>
              </a:rPr>
              <a:t>标准库，启动快无加载开销</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代码易于理解</a:t>
            </a:r>
          </a:p>
        </p:txBody>
      </p:sp>
      <p:sp>
        <p:nvSpPr>
          <p:cNvPr id="13" name="矩形 12">
            <a:extLst>
              <a:ext uri="{FF2B5EF4-FFF2-40B4-BE49-F238E27FC236}">
                <a16:creationId xmlns:a16="http://schemas.microsoft.com/office/drawing/2014/main" id="{C016DA1A-7279-5EED-2414-9F21D0281DD8}"/>
              </a:ext>
            </a:extLst>
          </p:cNvPr>
          <p:cNvSpPr/>
          <p:nvPr/>
        </p:nvSpPr>
        <p:spPr>
          <a:xfrm>
            <a:off x="6278062" y="2118353"/>
            <a:ext cx="4743833" cy="419764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A235C04-EF50-0C3C-9E58-5C37A08DE59C}"/>
              </a:ext>
            </a:extLst>
          </p:cNvPr>
          <p:cNvSpPr txBox="1"/>
          <p:nvPr/>
        </p:nvSpPr>
        <p:spPr>
          <a:xfrm>
            <a:off x="6333294" y="2118353"/>
            <a:ext cx="4805203" cy="4031873"/>
          </a:xfrm>
          <a:prstGeom prst="rect">
            <a:avLst/>
          </a:prstGeom>
          <a:noFill/>
        </p:spPr>
        <p:txBody>
          <a:bodyPr wrap="square" rtlCol="0">
            <a:spAutoFit/>
          </a:bodyPr>
          <a:lstStyle/>
          <a:p>
            <a:r>
              <a:rPr lang="en-US" altLang="zh-CN" sz="2400" dirty="0">
                <a:solidFill>
                  <a:srgbClr val="FF0000"/>
                </a:solidFill>
                <a:latin typeface="HarmonyOS Sans SC" panose="00000800000000000000" pitchFamily="2" charset="-122"/>
                <a:ea typeface="HarmonyOS Sans SC" panose="00000800000000000000" pitchFamily="2" charset="-122"/>
              </a:rPr>
              <a:t>1.</a:t>
            </a:r>
            <a:r>
              <a:rPr lang="zh-CN" altLang="en-US" sz="2400" dirty="0">
                <a:solidFill>
                  <a:srgbClr val="FF0000"/>
                </a:solidFill>
                <a:latin typeface="HarmonyOS Sans SC" panose="00000800000000000000" pitchFamily="2" charset="-122"/>
                <a:ea typeface="HarmonyOS Sans SC" panose="00000800000000000000" pitchFamily="2" charset="-122"/>
              </a:rPr>
              <a:t>查询线性扫描   </a:t>
            </a:r>
            <a:endParaRPr lang="en-US" altLang="zh-CN" sz="2400" dirty="0">
              <a:solidFill>
                <a:srgbClr val="FF0000"/>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无索引，每次查询全表扫描 </a:t>
            </a:r>
            <a:r>
              <a:rPr lang="en-US" altLang="zh-CN" sz="2000" dirty="0">
                <a:latin typeface="华文楷体" panose="02010600040101010101" pitchFamily="2" charset="-122"/>
                <a:ea typeface="华文楷体" panose="02010600040101010101" pitchFamily="2" charset="-122"/>
              </a:rPr>
              <a:t>O(n)   </a:t>
            </a: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大数据量时性能下降明显</a:t>
            </a:r>
            <a:endParaRPr lang="en-US" altLang="zh-CN" sz="2000" dirty="0">
              <a:latin typeface="华文楷体" panose="02010600040101010101" pitchFamily="2" charset="-122"/>
              <a:ea typeface="华文楷体" panose="02010600040101010101" pitchFamily="2" charset="-122"/>
            </a:endParaRPr>
          </a:p>
          <a:p>
            <a:r>
              <a:rPr lang="en-US" altLang="zh-CN" sz="2400" dirty="0">
                <a:solidFill>
                  <a:srgbClr val="FF0000"/>
                </a:solidFill>
                <a:latin typeface="HarmonyOS Sans SC" panose="00000800000000000000" pitchFamily="2" charset="-122"/>
                <a:ea typeface="HarmonyOS Sans SC" panose="00000800000000000000" pitchFamily="2" charset="-122"/>
              </a:rPr>
              <a:t>2. </a:t>
            </a:r>
            <a:r>
              <a:rPr lang="zh-CN" altLang="en-US" sz="2400" dirty="0">
                <a:solidFill>
                  <a:srgbClr val="FF0000"/>
                </a:solidFill>
                <a:latin typeface="HarmonyOS Sans SC" panose="00000800000000000000" pitchFamily="2" charset="-122"/>
                <a:ea typeface="HarmonyOS Sans SC" panose="00000800000000000000" pitchFamily="2" charset="-122"/>
              </a:rPr>
              <a:t>内存使用固定   </a:t>
            </a:r>
            <a:endParaRPr lang="en-US" altLang="zh-CN" sz="2400" dirty="0">
              <a:solidFill>
                <a:srgbClr val="FF0000"/>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预分配最大内存（约</a:t>
            </a:r>
            <a:r>
              <a:rPr lang="en-US" altLang="zh-CN" sz="2000" dirty="0">
                <a:latin typeface="华文楷体" panose="02010600040101010101" pitchFamily="2" charset="-122"/>
                <a:ea typeface="华文楷体" panose="02010600040101010101" pitchFamily="2" charset="-122"/>
              </a:rPr>
              <a:t>20MB</a:t>
            </a:r>
            <a:r>
              <a:rPr lang="zh-CN" altLang="en-US" sz="2000" dirty="0">
                <a:latin typeface="华文楷体" panose="02010600040101010101" pitchFamily="2" charset="-122"/>
                <a:ea typeface="华文楷体" panose="02010600040101010101" pitchFamily="2" charset="-122"/>
              </a:rPr>
              <a:t>）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空表也占满额内存</a:t>
            </a:r>
            <a:endParaRPr lang="en-US" altLang="zh-CN" sz="2000" dirty="0">
              <a:latin typeface="华文楷体" panose="02010600040101010101" pitchFamily="2" charset="-122"/>
              <a:ea typeface="华文楷体" panose="02010600040101010101" pitchFamily="2" charset="-122"/>
            </a:endParaRPr>
          </a:p>
          <a:p>
            <a:r>
              <a:rPr lang="en-US" altLang="zh-CN" sz="2400" dirty="0">
                <a:solidFill>
                  <a:srgbClr val="FF0000"/>
                </a:solidFill>
                <a:latin typeface="HarmonyOS Sans SC" panose="00000800000000000000" pitchFamily="2" charset="-122"/>
                <a:ea typeface="HarmonyOS Sans SC" panose="00000800000000000000" pitchFamily="2" charset="-122"/>
              </a:rPr>
              <a:t>3. </a:t>
            </a:r>
            <a:r>
              <a:rPr lang="zh-CN" altLang="en-US" sz="2400" dirty="0">
                <a:solidFill>
                  <a:srgbClr val="FF0000"/>
                </a:solidFill>
                <a:latin typeface="HarmonyOS Sans SC" panose="00000800000000000000" pitchFamily="2" charset="-122"/>
                <a:ea typeface="HarmonyOS Sans SC" panose="00000800000000000000" pitchFamily="2" charset="-122"/>
              </a:rPr>
              <a:t>类型转换开销   </a:t>
            </a:r>
            <a:endParaRPr lang="en-US" altLang="zh-CN" sz="2400" dirty="0">
              <a:solidFill>
                <a:srgbClr val="FF0000"/>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所有值存为字符串，查询时需转换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频繁调用 </a:t>
            </a:r>
            <a:r>
              <a:rPr lang="en-US" altLang="zh-CN" sz="2000" dirty="0" err="1">
                <a:latin typeface="华文楷体" panose="02010600040101010101" pitchFamily="2" charset="-122"/>
                <a:ea typeface="华文楷体" panose="02010600040101010101" pitchFamily="2" charset="-122"/>
              </a:rPr>
              <a:t>atoi</a:t>
            </a:r>
            <a:r>
              <a:rPr lang="en-US" altLang="zh-CN" sz="2000" dirty="0">
                <a:latin typeface="华文楷体" panose="02010600040101010101" pitchFamily="2" charset="-122"/>
                <a:ea typeface="华文楷体" panose="02010600040101010101" pitchFamily="2" charset="-122"/>
              </a:rPr>
              <a:t>()/</a:t>
            </a:r>
            <a:r>
              <a:rPr lang="en-US" altLang="zh-CN" sz="2000" dirty="0" err="1">
                <a:latin typeface="华文楷体" panose="02010600040101010101" pitchFamily="2" charset="-122"/>
                <a:ea typeface="华文楷体" panose="02010600040101010101" pitchFamily="2" charset="-122"/>
              </a:rPr>
              <a:t>atof</a:t>
            </a:r>
            <a:r>
              <a:rPr lang="en-US" altLang="zh-CN" sz="2000" dirty="0">
                <a:latin typeface="华文楷体" panose="02010600040101010101" pitchFamily="2" charset="-122"/>
                <a:ea typeface="华文楷体" panose="02010600040101010101" pitchFamily="2" charset="-122"/>
              </a:rPr>
              <a:t>()/</a:t>
            </a:r>
            <a:r>
              <a:rPr lang="en-US" altLang="zh-CN" sz="2000" dirty="0" err="1">
                <a:latin typeface="华文楷体" panose="02010600040101010101" pitchFamily="2" charset="-122"/>
                <a:ea typeface="华文楷体" panose="02010600040101010101" pitchFamily="2" charset="-122"/>
              </a:rPr>
              <a:t>strcmp</a:t>
            </a:r>
            <a:r>
              <a:rPr lang="en-US" altLang="zh-CN" sz="2000" dirty="0">
                <a:latin typeface="华文楷体" panose="02010600040101010101" pitchFamily="2" charset="-122"/>
                <a:ea typeface="华文楷体" panose="02010600040101010101" pitchFamily="2" charset="-122"/>
              </a:rPr>
              <a:t>()</a:t>
            </a:r>
          </a:p>
          <a:p>
            <a:r>
              <a:rPr lang="en-US" altLang="zh-CN" sz="2400" dirty="0">
                <a:solidFill>
                  <a:srgbClr val="FF0000"/>
                </a:solidFill>
                <a:latin typeface="HarmonyOS Sans SC" panose="00000800000000000000" pitchFamily="2" charset="-122"/>
                <a:ea typeface="HarmonyOS Sans SC" panose="00000800000000000000" pitchFamily="2" charset="-122"/>
              </a:rPr>
              <a:t>4. </a:t>
            </a:r>
            <a:r>
              <a:rPr lang="zh-CN" altLang="en-US" sz="2400" dirty="0">
                <a:solidFill>
                  <a:srgbClr val="FF0000"/>
                </a:solidFill>
                <a:latin typeface="HarmonyOS Sans SC" panose="00000800000000000000" pitchFamily="2" charset="-122"/>
                <a:ea typeface="HarmonyOS Sans SC" panose="00000800000000000000" pitchFamily="2" charset="-122"/>
              </a:rPr>
              <a:t>排序数据复制   </a:t>
            </a:r>
            <a:endParaRPr lang="en-US" altLang="zh-CN" sz="2400" dirty="0">
              <a:solidFill>
                <a:srgbClr val="FF0000"/>
              </a:solidFill>
              <a:latin typeface="HarmonyOS Sans SC" panose="00000800000000000000" pitchFamily="2" charset="-122"/>
              <a:ea typeface="HarmonyOS Sans SC" panose="00000800000000000000"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排序前需复制全部数据到临时数组   </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双重内存消耗</a:t>
            </a:r>
          </a:p>
        </p:txBody>
      </p:sp>
      <p:sp>
        <p:nvSpPr>
          <p:cNvPr id="14" name="矩形 13">
            <a:extLst>
              <a:ext uri="{FF2B5EF4-FFF2-40B4-BE49-F238E27FC236}">
                <a16:creationId xmlns:a16="http://schemas.microsoft.com/office/drawing/2014/main" id="{7BA80920-A5F3-A19A-3A45-62B4F4C436CC}"/>
              </a:ext>
            </a:extLst>
          </p:cNvPr>
          <p:cNvSpPr/>
          <p:nvPr/>
        </p:nvSpPr>
        <p:spPr>
          <a:xfrm>
            <a:off x="1372621" y="2111098"/>
            <a:ext cx="4526997" cy="4197648"/>
          </a:xfrm>
          <a:prstGeom prst="rect">
            <a:avLst/>
          </a:prstGeom>
          <a:solidFill>
            <a:schemeClr val="accent5">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84ED8ADE-00BC-72FC-33BE-49F5CF77160F}"/>
              </a:ext>
            </a:extLst>
          </p:cNvPr>
          <p:cNvSpPr/>
          <p:nvPr/>
        </p:nvSpPr>
        <p:spPr>
          <a:xfrm>
            <a:off x="6248400" y="2118353"/>
            <a:ext cx="4773495" cy="4197648"/>
          </a:xfrm>
          <a:prstGeom prst="rect">
            <a:avLst/>
          </a:prstGeom>
          <a:solidFill>
            <a:schemeClr val="bg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85E6507C-7672-D02B-090F-958B839A0571}"/>
              </a:ext>
            </a:extLst>
          </p:cNvPr>
          <p:cNvSpPr txBox="1"/>
          <p:nvPr/>
        </p:nvSpPr>
        <p:spPr>
          <a:xfrm>
            <a:off x="2890486" y="3277111"/>
            <a:ext cx="2773884" cy="1569660"/>
          </a:xfrm>
          <a:prstGeom prst="rect">
            <a:avLst/>
          </a:prstGeom>
          <a:noFill/>
        </p:spPr>
        <p:txBody>
          <a:bodyPr wrap="square" rtlCol="0">
            <a:spAutoFit/>
          </a:bodyPr>
          <a:lstStyle/>
          <a:p>
            <a:r>
              <a:rPr lang="zh-CN" altLang="en-US" sz="9600" dirty="0">
                <a:latin typeface="华文行楷" panose="02010800040101010101" pitchFamily="2" charset="-122"/>
                <a:ea typeface="华文行楷" panose="02010800040101010101" pitchFamily="2" charset="-122"/>
              </a:rPr>
              <a:t>优</a:t>
            </a:r>
          </a:p>
        </p:txBody>
      </p:sp>
      <p:sp>
        <p:nvSpPr>
          <p:cNvPr id="18" name="文本框 17">
            <a:extLst>
              <a:ext uri="{FF2B5EF4-FFF2-40B4-BE49-F238E27FC236}">
                <a16:creationId xmlns:a16="http://schemas.microsoft.com/office/drawing/2014/main" id="{995B64FE-DB3E-0A85-1D0A-A831224D121A}"/>
              </a:ext>
            </a:extLst>
          </p:cNvPr>
          <p:cNvSpPr txBox="1"/>
          <p:nvPr/>
        </p:nvSpPr>
        <p:spPr>
          <a:xfrm>
            <a:off x="8008673" y="3275721"/>
            <a:ext cx="2773884" cy="1569660"/>
          </a:xfrm>
          <a:prstGeom prst="rect">
            <a:avLst/>
          </a:prstGeom>
          <a:noFill/>
        </p:spPr>
        <p:txBody>
          <a:bodyPr wrap="square" rtlCol="0">
            <a:spAutoFit/>
          </a:bodyPr>
          <a:lstStyle/>
          <a:p>
            <a:r>
              <a:rPr lang="zh-CN" altLang="en-US" sz="9600" dirty="0">
                <a:latin typeface="华文行楷" panose="02010800040101010101" pitchFamily="2" charset="-122"/>
                <a:ea typeface="华文行楷" panose="02010800040101010101" pitchFamily="2" charset="-122"/>
              </a:rPr>
              <a:t>劣</a:t>
            </a:r>
          </a:p>
        </p:txBody>
      </p:sp>
    </p:spTree>
    <p:extLst>
      <p:ext uri="{BB962C8B-B14F-4D97-AF65-F5344CB8AC3E}">
        <p14:creationId xmlns:p14="http://schemas.microsoft.com/office/powerpoint/2010/main" val="36758380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17"/>
                                        </p:tgtEl>
                                        <p:attrNameLst>
                                          <p:attrName>ppt_x</p:attrName>
                                        </p:attrNameLst>
                                      </p:cBhvr>
                                      <p:tavLst>
                                        <p:tav tm="0">
                                          <p:val>
                                            <p:strVal val="ppt_x"/>
                                          </p:val>
                                        </p:tav>
                                        <p:tav tm="100000">
                                          <p:val>
                                            <p:strVal val="ppt_x"/>
                                          </p:val>
                                        </p:tav>
                                      </p:tavLst>
                                    </p:anim>
                                    <p:anim calcmode="lin" valueType="num">
                                      <p:cBhvr additive="base">
                                        <p:cTn id="32" dur="500"/>
                                        <p:tgtEl>
                                          <p:spTgt spid="17"/>
                                        </p:tgtEl>
                                        <p:attrNameLst>
                                          <p:attrName>ppt_y</p:attrName>
                                        </p:attrNameLst>
                                      </p:cBhvr>
                                      <p:tavLst>
                                        <p:tav tm="0">
                                          <p:val>
                                            <p:strVal val="ppt_y"/>
                                          </p:val>
                                        </p:tav>
                                        <p:tav tm="100000">
                                          <p:val>
                                            <p:strVal val="1+ppt_h/2"/>
                                          </p:val>
                                        </p:tav>
                                      </p:tavLst>
                                    </p:anim>
                                    <p:set>
                                      <p:cBhvr>
                                        <p:cTn id="33" dur="1" fill="hold">
                                          <p:stCondLst>
                                            <p:cond delay="499"/>
                                          </p:stCondLst>
                                        </p:cTn>
                                        <p:tgtEl>
                                          <p:spTgt spid="17"/>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14"/>
                                        </p:tgtEl>
                                      </p:cBhvr>
                                    </p:animEffect>
                                    <p:set>
                                      <p:cBhvr>
                                        <p:cTn id="38" dur="1" fill="hold">
                                          <p:stCondLst>
                                            <p:cond delay="499"/>
                                          </p:stCondLst>
                                        </p:cTn>
                                        <p:tgtEl>
                                          <p:spTgt spid="1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8"/>
                                        </p:tgtEl>
                                        <p:attrNameLst>
                                          <p:attrName>ppt_x</p:attrName>
                                        </p:attrNameLst>
                                      </p:cBhvr>
                                      <p:tavLst>
                                        <p:tav tm="0">
                                          <p:val>
                                            <p:strVal val="ppt_x"/>
                                          </p:val>
                                        </p:tav>
                                        <p:tav tm="100000">
                                          <p:val>
                                            <p:strVal val="ppt_x"/>
                                          </p:val>
                                        </p:tav>
                                      </p:tavLst>
                                    </p:anim>
                                    <p:anim calcmode="lin" valueType="num">
                                      <p:cBhvr additive="base">
                                        <p:cTn id="43" dur="500"/>
                                        <p:tgtEl>
                                          <p:spTgt spid="18"/>
                                        </p:tgtEl>
                                        <p:attrNameLst>
                                          <p:attrName>ppt_y</p:attrName>
                                        </p:attrNameLst>
                                      </p:cBhvr>
                                      <p:tavLst>
                                        <p:tav tm="0">
                                          <p:val>
                                            <p:strVal val="ppt_y"/>
                                          </p:val>
                                        </p:tav>
                                        <p:tav tm="100000">
                                          <p:val>
                                            <p:strVal val="1+ppt_h/2"/>
                                          </p:val>
                                        </p:tav>
                                      </p:tavLst>
                                    </p:anim>
                                    <p:set>
                                      <p:cBhvr>
                                        <p:cTn id="44" dur="1" fill="hold">
                                          <p:stCondLst>
                                            <p:cond delay="499"/>
                                          </p:stCondLst>
                                        </p:cTn>
                                        <p:tgtEl>
                                          <p:spTgt spid="18"/>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6"/>
                                        </p:tgtEl>
                                      </p:cBhvr>
                                    </p:animEffect>
                                    <p:set>
                                      <p:cBhvr>
                                        <p:cTn id="49"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9" grpId="0" animBg="1"/>
      <p:bldP spid="8" grpId="0"/>
      <p:bldP spid="14" grpId="0" animBg="1"/>
      <p:bldP spid="16" grpId="0" animBg="1"/>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4307640-160D-FFF3-6648-23AF4796E4C1}"/>
              </a:ext>
            </a:extLst>
          </p:cNvPr>
          <p:cNvSpPr/>
          <p:nvPr/>
        </p:nvSpPr>
        <p:spPr>
          <a:xfrm>
            <a:off x="0" y="1485133"/>
            <a:ext cx="12192000" cy="405036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600" dirty="0">
                <a:solidFill>
                  <a:schemeClr val="bg2">
                    <a:lumMod val="10000"/>
                  </a:schemeClr>
                </a:solidFill>
                <a:latin typeface="华文行楷" panose="02010800040101010101" pitchFamily="2" charset="-122"/>
                <a:ea typeface="华文行楷" panose="02010800040101010101" pitchFamily="2" charset="-122"/>
              </a:rPr>
              <a:t>感谢观看</a:t>
            </a:r>
          </a:p>
        </p:txBody>
      </p:sp>
    </p:spTree>
    <p:extLst>
      <p:ext uri="{BB962C8B-B14F-4D97-AF65-F5344CB8AC3E}">
        <p14:creationId xmlns:p14="http://schemas.microsoft.com/office/powerpoint/2010/main" val="2580258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TotalTime>
  <Words>491</Words>
  <Application>Microsoft Office PowerPoint</Application>
  <PresentationFormat>宽屏</PresentationFormat>
  <Paragraphs>69</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HarmonyOS Sans SC</vt:lpstr>
      <vt:lpstr>等线</vt:lpstr>
      <vt:lpstr>等线 Light</vt:lpstr>
      <vt:lpstr>方正粗黑宋简体</vt:lpstr>
      <vt:lpstr>华文彩云</vt:lpstr>
      <vt:lpstr>华文楷体</vt:lpstr>
      <vt:lpstr>华文行楷</vt:lpstr>
      <vt:lpstr>隶书</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缃素 尘</dc:creator>
  <cp:lastModifiedBy>缃素 尘</cp:lastModifiedBy>
  <cp:revision>3</cp:revision>
  <dcterms:created xsi:type="dcterms:W3CDTF">2025-12-24T14:44:33Z</dcterms:created>
  <dcterms:modified xsi:type="dcterms:W3CDTF">2025-12-26T07:11:25Z</dcterms:modified>
</cp:coreProperties>
</file>